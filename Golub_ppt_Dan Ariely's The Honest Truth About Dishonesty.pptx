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316" r:id="rId4"/>
    <p:sldId id="276" r:id="rId5"/>
    <p:sldId id="258" r:id="rId6"/>
    <p:sldId id="257" r:id="rId7"/>
    <p:sldId id="277" r:id="rId8"/>
    <p:sldId id="261" r:id="rId9"/>
    <p:sldId id="262" r:id="rId10"/>
    <p:sldId id="279" r:id="rId11"/>
    <p:sldId id="318" r:id="rId12"/>
    <p:sldId id="284" r:id="rId13"/>
    <p:sldId id="285" r:id="rId14"/>
    <p:sldId id="287" r:id="rId15"/>
    <p:sldId id="289" r:id="rId16"/>
    <p:sldId id="282" r:id="rId17"/>
    <p:sldId id="291" r:id="rId18"/>
    <p:sldId id="292" r:id="rId19"/>
    <p:sldId id="294" r:id="rId20"/>
    <p:sldId id="290" r:id="rId21"/>
    <p:sldId id="268" r:id="rId22"/>
    <p:sldId id="295" r:id="rId23"/>
    <p:sldId id="296" r:id="rId24"/>
    <p:sldId id="298" r:id="rId25"/>
    <p:sldId id="319" r:id="rId26"/>
    <p:sldId id="320" r:id="rId27"/>
    <p:sldId id="300" r:id="rId28"/>
    <p:sldId id="301" r:id="rId29"/>
    <p:sldId id="302" r:id="rId30"/>
    <p:sldId id="322" r:id="rId31"/>
    <p:sldId id="323" r:id="rId32"/>
    <p:sldId id="324" r:id="rId33"/>
    <p:sldId id="325" r:id="rId34"/>
    <p:sldId id="326" r:id="rId35"/>
    <p:sldId id="327" r:id="rId36"/>
    <p:sldId id="307" r:id="rId37"/>
    <p:sldId id="306" r:id="rId38"/>
    <p:sldId id="267" r:id="rId39"/>
    <p:sldId id="269" r:id="rId40"/>
    <p:sldId id="321"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40" autoAdjust="0"/>
  </p:normalViewPr>
  <p:slideViewPr>
    <p:cSldViewPr>
      <p:cViewPr varScale="1">
        <p:scale>
          <a:sx n="105" d="100"/>
          <a:sy n="105" d="100"/>
        </p:scale>
        <p:origin x="80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0C19EFF3-057A-4F04-91E0-FFBC301ACA64}" type="datetimeFigureOut">
              <a:rPr lang="en-US" smtClean="0"/>
              <a:pPr/>
              <a:t>3/6/2026</a:t>
            </a:fld>
            <a:endParaRPr lang="en-US" dirty="0"/>
          </a:p>
        </p:txBody>
      </p:sp>
      <p:sp>
        <p:nvSpPr>
          <p:cNvPr id="17" name="Footer Placeholder 16"/>
          <p:cNvSpPr>
            <a:spLocks noGrp="1"/>
          </p:cNvSpPr>
          <p:nvPr>
            <p:ph type="ftr" sz="quarter" idx="11"/>
          </p:nvPr>
        </p:nvSpPr>
        <p:spPr>
          <a:xfrm>
            <a:off x="5410200" y="4205288"/>
            <a:ext cx="1295400" cy="457200"/>
          </a:xfrm>
        </p:spPr>
        <p:txBody>
          <a:bodyPr/>
          <a:lstStyle/>
          <a:p>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F4C8BFC-E82A-4ACE-B500-3A8CCAA2B237}"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0C19EFF3-057A-4F04-91E0-FFBC301ACA64}" type="datetimeFigureOut">
              <a:rPr lang="en-US" smtClean="0"/>
              <a:pPr/>
              <a:t>3/6/2026</a:t>
            </a:fld>
            <a:endParaRPr lang="en-US" dirty="0"/>
          </a:p>
        </p:txBody>
      </p:sp>
      <p:sp>
        <p:nvSpPr>
          <p:cNvPr id="27" name="Slide Number Placeholder 26"/>
          <p:cNvSpPr>
            <a:spLocks noGrp="1"/>
          </p:cNvSpPr>
          <p:nvPr>
            <p:ph type="sldNum" sz="quarter" idx="11"/>
          </p:nvPr>
        </p:nvSpPr>
        <p:spPr/>
        <p:txBody>
          <a:bodyPr rtlCol="0"/>
          <a:lstStyle/>
          <a:p>
            <a:fld id="{BF4C8BFC-E82A-4ACE-B500-3A8CCAA2B237}"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0C19EFF3-057A-4F04-91E0-FFBC301ACA64}" type="datetimeFigureOut">
              <a:rPr lang="en-US" smtClean="0"/>
              <a:pPr/>
              <a:t>3/6/2026</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BF4C8BFC-E82A-4ACE-B500-3A8CCAA2B2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C19EFF3-057A-4F04-91E0-FFBC301ACA64}" type="datetimeFigureOut">
              <a:rPr lang="en-US" smtClean="0"/>
              <a:pPr/>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F4C8BFC-E82A-4ACE-B500-3A8CCAA2B2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CC"/>
        </a:solidFill>
        <a:effectLst/>
      </p:bgPr>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0C19EFF3-057A-4F04-91E0-FFBC301ACA64}" type="datetimeFigureOut">
              <a:rPr lang="en-US" smtClean="0"/>
              <a:pPr/>
              <a:t>3/6/2026</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F4C8BFC-E82A-4ACE-B500-3A8CCAA2B2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thisamericanlife.org/radio-archives/episode/431/see-no-evil?act=3"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401887"/>
            <a:ext cx="8458200" cy="798513"/>
          </a:xfrm>
        </p:spPr>
        <p:txBody>
          <a:bodyPr>
            <a:normAutofit fontScale="90000"/>
          </a:bodyPr>
          <a:lstStyle/>
          <a:p>
            <a:r>
              <a:rPr lang="en-US" dirty="0"/>
              <a:t>The Honest Truth About Dishonesty</a:t>
            </a:r>
            <a:br>
              <a:rPr lang="en-US" dirty="0"/>
            </a:br>
            <a:endParaRPr lang="en-US" dirty="0"/>
          </a:p>
        </p:txBody>
      </p:sp>
      <p:sp>
        <p:nvSpPr>
          <p:cNvPr id="3" name="Subtitle 2"/>
          <p:cNvSpPr>
            <a:spLocks noGrp="1"/>
          </p:cNvSpPr>
          <p:nvPr>
            <p:ph type="subTitle" idx="1"/>
          </p:nvPr>
        </p:nvSpPr>
        <p:spPr/>
        <p:txBody>
          <a:bodyPr/>
          <a:lstStyle/>
          <a:p>
            <a:r>
              <a:rPr lang="en-US"/>
              <a:t>Dan </a:t>
            </a:r>
            <a:r>
              <a:rPr lang="en-US" dirty="0"/>
              <a:t>Ariely </a:t>
            </a:r>
          </a:p>
        </p:txBody>
      </p:sp>
      <p:sp>
        <p:nvSpPr>
          <p:cNvPr id="4" name="Rectangle 3"/>
          <p:cNvSpPr/>
          <p:nvPr/>
        </p:nvSpPr>
        <p:spPr>
          <a:xfrm>
            <a:off x="457200" y="2667000"/>
            <a:ext cx="4572000" cy="646331"/>
          </a:xfrm>
          <a:prstGeom prst="rect">
            <a:avLst/>
          </a:prstGeom>
        </p:spPr>
        <p:txBody>
          <a:bodyPr>
            <a:spAutoFit/>
          </a:bodyPr>
          <a:lstStyle/>
          <a:p>
            <a:r>
              <a:rPr lang="en-US" i="1" dirty="0">
                <a:solidFill>
                  <a:schemeClr val="bg1"/>
                </a:solidFill>
              </a:rPr>
              <a:t>There’s one way to find out if a man is honest—ask him. If he says “yes,” he is a crook. </a:t>
            </a:r>
            <a:endParaRPr lang="en-US" dirty="0">
              <a:solidFill>
                <a:schemeClr val="bg1"/>
              </a:solidFill>
            </a:endParaRPr>
          </a:p>
        </p:txBody>
      </p:sp>
      <p:sp>
        <p:nvSpPr>
          <p:cNvPr id="5" name="Rectangle 4"/>
          <p:cNvSpPr/>
          <p:nvPr/>
        </p:nvSpPr>
        <p:spPr>
          <a:xfrm>
            <a:off x="3751102" y="3244334"/>
            <a:ext cx="1641796" cy="369332"/>
          </a:xfrm>
          <a:prstGeom prst="rect">
            <a:avLst/>
          </a:prstGeom>
        </p:spPr>
        <p:txBody>
          <a:bodyPr wrap="none">
            <a:spAutoFit/>
          </a:bodyPr>
          <a:lstStyle/>
          <a:p>
            <a:r>
              <a:rPr lang="en-US" i="1" dirty="0">
                <a:solidFill>
                  <a:schemeClr val="bg1"/>
                </a:solidFill>
              </a:rPr>
              <a:t>–</a:t>
            </a:r>
            <a:r>
              <a:rPr lang="en-US" i="1" dirty="0" err="1">
                <a:solidFill>
                  <a:schemeClr val="bg1"/>
                </a:solidFill>
              </a:rPr>
              <a:t>Groucho</a:t>
            </a:r>
            <a:r>
              <a:rPr lang="en-US" i="1">
                <a:solidFill>
                  <a:schemeClr val="bg1"/>
                </a:solidFill>
              </a:rPr>
              <a:t> Marx</a:t>
            </a:r>
            <a:endParaRPr lang="en-US"/>
          </a:p>
        </p:txBody>
      </p:sp>
      <p:sp>
        <p:nvSpPr>
          <p:cNvPr id="6" name="TextBox 5"/>
          <p:cNvSpPr txBox="1"/>
          <p:nvPr/>
        </p:nvSpPr>
        <p:spPr>
          <a:xfrm>
            <a:off x="4419600" y="4419600"/>
            <a:ext cx="4292970" cy="923330"/>
          </a:xfrm>
          <a:prstGeom prst="rect">
            <a:avLst/>
          </a:prstGeom>
          <a:noFill/>
        </p:spPr>
        <p:txBody>
          <a:bodyPr wrap="none" rtlCol="0">
            <a:spAutoFit/>
          </a:bodyPr>
          <a:lstStyle/>
          <a:p>
            <a:r>
              <a:rPr lang="en-US"/>
              <a:t>And it's all in the hands of a lazy projector</a:t>
            </a:r>
            <a:br>
              <a:rPr lang="en-US"/>
            </a:br>
            <a:r>
              <a:rPr lang="en-US"/>
              <a:t>That forgetting, embellishing, lying machine</a:t>
            </a:r>
          </a:p>
          <a:p>
            <a:r>
              <a:rPr lang="en-US"/>
              <a:t>			--Andrew  Bird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914400"/>
          </a:xfrm>
        </p:spPr>
        <p:txBody>
          <a:bodyPr>
            <a:normAutofit/>
          </a:bodyPr>
          <a:lstStyle/>
          <a:p>
            <a:r>
              <a:rPr lang="en-US" sz="2800">
                <a:solidFill>
                  <a:srgbClr val="002060"/>
                </a:solidFill>
                <a:latin typeface="+mn-lt"/>
                <a:ea typeface="+mn-ea"/>
                <a:cs typeface="+mn-cs"/>
              </a:rPr>
              <a:t>Plato’s “The Ring of Gyges”</a:t>
            </a:r>
            <a:endParaRPr lang="en-US" sz="2800">
              <a:solidFill>
                <a:srgbClr val="002060"/>
              </a:solidFill>
            </a:endParaRPr>
          </a:p>
        </p:txBody>
      </p:sp>
      <p:sp>
        <p:nvSpPr>
          <p:cNvPr id="3" name="Content Placeholder 2"/>
          <p:cNvSpPr>
            <a:spLocks noGrp="1"/>
          </p:cNvSpPr>
          <p:nvPr>
            <p:ph idx="1"/>
          </p:nvPr>
        </p:nvSpPr>
        <p:spPr>
          <a:xfrm>
            <a:off x="0" y="914400"/>
            <a:ext cx="3200400" cy="4953000"/>
          </a:xfrm>
        </p:spPr>
        <p:txBody>
          <a:bodyPr>
            <a:noAutofit/>
          </a:bodyPr>
          <a:lstStyle/>
          <a:p>
            <a:pPr fontAlgn="base">
              <a:buNone/>
            </a:pPr>
            <a:r>
              <a:rPr kumimoji="0" lang="en-US" sz="2000" kern="1200">
                <a:solidFill>
                  <a:srgbClr val="002060"/>
                </a:solidFill>
                <a:latin typeface="+mn-lt"/>
                <a:ea typeface="+mn-ea"/>
                <a:cs typeface="+mn-cs"/>
              </a:rPr>
              <a:t>	</a:t>
            </a:r>
            <a:r>
              <a:rPr lang="en-US" sz="2000">
                <a:solidFill>
                  <a:srgbClr val="002060"/>
                </a:solidFill>
              </a:rPr>
              <a:t>Plato’s old brother, Glaucon, and Socrates are discussing justice and Glaucon gives the following example: </a:t>
            </a:r>
            <a:r>
              <a:rPr kumimoji="0" lang="en-US" sz="2000" kern="1200">
                <a:solidFill>
                  <a:srgbClr val="002060"/>
                </a:solidFill>
                <a:latin typeface="+mn-lt"/>
                <a:ea typeface="+mn-ea"/>
                <a:cs typeface="+mn-cs"/>
              </a:rPr>
              <a:t>A shepherd named Gyges finds an invisibility ring. Immediately, he slips it on and heads to court where he seduces the queen and convinces her to help him kill the king, and thereafter takes over the kingdom. </a:t>
            </a:r>
          </a:p>
          <a:p>
            <a:pPr>
              <a:buNone/>
            </a:pPr>
            <a:endParaRPr lang="en-US" sz="2000">
              <a:solidFill>
                <a:srgbClr val="002060"/>
              </a:solidFill>
            </a:endParaRPr>
          </a:p>
          <a:p>
            <a:pPr>
              <a:buNone/>
            </a:pPr>
            <a:endParaRPr lang="en-US" sz="2000" i="1">
              <a:solidFill>
                <a:srgbClr val="002060"/>
              </a:solidFill>
            </a:endParaRPr>
          </a:p>
          <a:p>
            <a:pPr>
              <a:buNone/>
            </a:pPr>
            <a:endParaRPr lang="en-US" sz="2000">
              <a:solidFill>
                <a:srgbClr val="002060"/>
              </a:solidFill>
            </a:endParaRPr>
          </a:p>
          <a:p>
            <a:pPr>
              <a:buNone/>
            </a:pPr>
            <a:r>
              <a:rPr lang="en-US" sz="2000">
                <a:solidFill>
                  <a:srgbClr val="002060"/>
                </a:solidFill>
              </a:rPr>
              <a:t>              </a:t>
            </a:r>
          </a:p>
          <a:p>
            <a:pPr>
              <a:buNone/>
            </a:pPr>
            <a:endParaRPr lang="en-US" sz="2000" i="1">
              <a:solidFill>
                <a:srgbClr val="002060"/>
              </a:solidFill>
            </a:endParaRPr>
          </a:p>
          <a:p>
            <a:pPr>
              <a:buNone/>
            </a:pPr>
            <a:endParaRPr lang="en-US" sz="2000" i="1">
              <a:solidFill>
                <a:srgbClr val="002060"/>
              </a:solidFill>
            </a:endParaRPr>
          </a:p>
          <a:p>
            <a:pPr>
              <a:buNone/>
            </a:pPr>
            <a:endParaRPr lang="en-US" sz="2000" i="1">
              <a:solidFill>
                <a:srgbClr val="002060"/>
              </a:solidFill>
            </a:endParaRPr>
          </a:p>
          <a:p>
            <a:pPr>
              <a:buNone/>
            </a:pPr>
            <a:endParaRPr lang="en-US" sz="2000">
              <a:solidFill>
                <a:srgbClr val="002060"/>
              </a:solidFill>
            </a:endParaRPr>
          </a:p>
        </p:txBody>
      </p:sp>
      <p:pic>
        <p:nvPicPr>
          <p:cNvPr id="71684" name="Picture 4" descr="http://upload.wikimedia.org/wikipedia/commons/9/94/Sanzio_01.jpg"/>
          <p:cNvPicPr>
            <a:picLocks noChangeAspect="1" noChangeArrowheads="1"/>
          </p:cNvPicPr>
          <p:nvPr/>
        </p:nvPicPr>
        <p:blipFill>
          <a:blip r:embed="rId2" cstate="print"/>
          <a:srcRect/>
          <a:stretch>
            <a:fillRect/>
          </a:stretch>
        </p:blipFill>
        <p:spPr bwMode="auto">
          <a:xfrm>
            <a:off x="3322320" y="838200"/>
            <a:ext cx="5821680" cy="451713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914400"/>
          </a:xfrm>
        </p:spPr>
        <p:txBody>
          <a:bodyPr>
            <a:normAutofit fontScale="90000"/>
          </a:bodyPr>
          <a:lstStyle/>
          <a:p>
            <a:r>
              <a:rPr lang="en-US" sz="2800">
                <a:solidFill>
                  <a:srgbClr val="002060"/>
                </a:solidFill>
                <a:latin typeface="+mn-lt"/>
                <a:ea typeface="+mn-ea"/>
                <a:cs typeface="+mn-cs"/>
              </a:rPr>
              <a:t>Plato’s “The Ring of Gyges”</a:t>
            </a:r>
            <a:br>
              <a:rPr lang="en-US" sz="2800">
                <a:solidFill>
                  <a:srgbClr val="002060"/>
                </a:solidFill>
                <a:latin typeface="+mn-lt"/>
                <a:ea typeface="+mn-ea"/>
                <a:cs typeface="+mn-cs"/>
              </a:rPr>
            </a:br>
            <a:endParaRPr lang="en-US" sz="2800">
              <a:solidFill>
                <a:srgbClr val="002060"/>
              </a:solidFill>
            </a:endParaRPr>
          </a:p>
        </p:txBody>
      </p:sp>
      <p:sp>
        <p:nvSpPr>
          <p:cNvPr id="3" name="Content Placeholder 2"/>
          <p:cNvSpPr>
            <a:spLocks noGrp="1"/>
          </p:cNvSpPr>
          <p:nvPr>
            <p:ph idx="1"/>
          </p:nvPr>
        </p:nvSpPr>
        <p:spPr>
          <a:xfrm>
            <a:off x="304800" y="762000"/>
            <a:ext cx="8382000" cy="4648200"/>
          </a:xfrm>
        </p:spPr>
        <p:txBody>
          <a:bodyPr>
            <a:noAutofit/>
          </a:bodyPr>
          <a:lstStyle/>
          <a:p>
            <a:pPr fontAlgn="base">
              <a:buNone/>
            </a:pPr>
            <a:r>
              <a:rPr lang="en-US" sz="2000">
                <a:solidFill>
                  <a:srgbClr val="002060"/>
                </a:solidFill>
              </a:rPr>
              <a:t>	</a:t>
            </a:r>
            <a:r>
              <a:rPr lang="en-US" sz="2000" i="1">
                <a:solidFill>
                  <a:srgbClr val="002060"/>
                </a:solidFill>
              </a:rPr>
              <a:t>For all men believe in their hearts that injustice is far more profitable to the individual than justice, and he who argues as I have been supposing, will say that they are right. If you could imagine any one obtaining this power of becoming invisible, and never doing any wrong or touching what was another's, he would be thought by the lookers-on to be a most wretched idiot, although they would praise him to one another's faces, and keep up appearances with one another from a fear that they too might suffer injustice.— </a:t>
            </a:r>
            <a:r>
              <a:rPr lang="en-US" sz="2000">
                <a:solidFill>
                  <a:srgbClr val="002060"/>
                </a:solidFill>
              </a:rPr>
              <a:t>Plato's </a:t>
            </a:r>
            <a:r>
              <a:rPr lang="en-US" sz="2000" i="1">
                <a:solidFill>
                  <a:srgbClr val="002060"/>
                </a:solidFill>
              </a:rPr>
              <a:t>Republic</a:t>
            </a:r>
            <a:r>
              <a:rPr lang="en-US" sz="2000">
                <a:solidFill>
                  <a:srgbClr val="002060"/>
                </a:solidFill>
              </a:rPr>
              <a:t>, (Jowett trans.)</a:t>
            </a:r>
            <a:endParaRPr kumimoji="0" lang="en-US" sz="2000" kern="1200">
              <a:solidFill>
                <a:srgbClr val="002060"/>
              </a:solidFill>
              <a:latin typeface="+mn-lt"/>
              <a:ea typeface="+mn-ea"/>
              <a:cs typeface="+mn-cs"/>
            </a:endParaRPr>
          </a:p>
          <a:p>
            <a:pPr>
              <a:buNone/>
            </a:pPr>
            <a:endParaRPr lang="en-US" sz="2000">
              <a:solidFill>
                <a:srgbClr val="002060"/>
              </a:solidFill>
            </a:endParaRPr>
          </a:p>
          <a:p>
            <a:pPr>
              <a:buNone/>
            </a:pPr>
            <a:endParaRPr lang="en-US" sz="2000" i="1">
              <a:solidFill>
                <a:srgbClr val="002060"/>
              </a:solidFill>
            </a:endParaRPr>
          </a:p>
          <a:p>
            <a:pPr>
              <a:buNone/>
            </a:pPr>
            <a:endParaRPr lang="en-US" sz="2000">
              <a:solidFill>
                <a:srgbClr val="002060"/>
              </a:solidFill>
            </a:endParaRPr>
          </a:p>
          <a:p>
            <a:pPr>
              <a:buNone/>
            </a:pPr>
            <a:r>
              <a:rPr lang="en-US" sz="2000">
                <a:solidFill>
                  <a:srgbClr val="002060"/>
                </a:solidFill>
              </a:rPr>
              <a:t>              </a:t>
            </a:r>
          </a:p>
          <a:p>
            <a:pPr>
              <a:buNone/>
            </a:pPr>
            <a:endParaRPr lang="en-US" sz="2000" i="1">
              <a:solidFill>
                <a:srgbClr val="002060"/>
              </a:solidFill>
            </a:endParaRPr>
          </a:p>
          <a:p>
            <a:pPr>
              <a:buNone/>
            </a:pPr>
            <a:endParaRPr lang="en-US" sz="2000" i="1">
              <a:solidFill>
                <a:srgbClr val="002060"/>
              </a:solidFill>
            </a:endParaRPr>
          </a:p>
          <a:p>
            <a:pPr>
              <a:buNone/>
            </a:pPr>
            <a:endParaRPr lang="en-US" sz="2000" i="1">
              <a:solidFill>
                <a:srgbClr val="002060"/>
              </a:solidFill>
            </a:endParaRPr>
          </a:p>
          <a:p>
            <a:pPr>
              <a:buNone/>
            </a:pPr>
            <a:endParaRPr lang="en-US" sz="20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09800"/>
            <a:ext cx="7924800" cy="4114800"/>
          </a:xfrm>
        </p:spPr>
        <p:txBody>
          <a:bodyPr>
            <a:normAutofit/>
          </a:bodyPr>
          <a:lstStyle/>
          <a:p>
            <a:pPr>
              <a:buNone/>
            </a:pPr>
            <a:r>
              <a:rPr lang="en-US" sz="2400">
                <a:solidFill>
                  <a:srgbClr val="002060"/>
                </a:solidFill>
              </a:rPr>
              <a:t>Dan Weiss at the John F. Kennedy Center for Performing Arts</a:t>
            </a:r>
            <a:endParaRPr lang="en-US">
              <a:solidFill>
                <a:srgbClr val="002060"/>
              </a:solidFill>
            </a:endParaRPr>
          </a:p>
          <a:p>
            <a:pPr>
              <a:buNone/>
            </a:pPr>
            <a:r>
              <a:rPr lang="en-US">
                <a:solidFill>
                  <a:srgbClr val="0070C0"/>
                </a:solidFill>
                <a:hlinkClick r:id="rId2"/>
              </a:rPr>
              <a:t>Ira Glass, </a:t>
            </a:r>
            <a:r>
              <a:rPr lang="en-US" i="1">
                <a:solidFill>
                  <a:srgbClr val="0070C0"/>
                </a:solidFill>
                <a:hlinkClick r:id="rId2"/>
              </a:rPr>
              <a:t>This American Life</a:t>
            </a:r>
            <a:endParaRPr lang="en-US" i="1">
              <a:solidFill>
                <a:srgbClr val="0070C0"/>
              </a:solidFill>
            </a:endParaRPr>
          </a:p>
          <a:p>
            <a:pPr>
              <a:buNone/>
            </a:pPr>
            <a:endParaRPr lang="en-US" sz="2400" i="1">
              <a:solidFill>
                <a:srgbClr val="002060"/>
              </a:solidFill>
            </a:endParaRPr>
          </a:p>
          <a:p>
            <a:pPr>
              <a:buNone/>
            </a:pPr>
            <a:endParaRPr lang="en-US" sz="2400">
              <a:solidFill>
                <a:srgbClr val="002060"/>
              </a:solidFill>
            </a:endParaRPr>
          </a:p>
          <a:p>
            <a:pPr>
              <a:buNone/>
            </a:pPr>
            <a:r>
              <a:rPr lang="en-US" sz="6500">
                <a:solidFill>
                  <a:srgbClr val="002060"/>
                </a:solidFill>
              </a:rPr>
              <a:t>                Why? </a:t>
            </a:r>
            <a:endParaRPr lang="en-US" sz="7300">
              <a:solidFill>
                <a:srgbClr val="002060"/>
              </a:solidFill>
            </a:endParaRPr>
          </a:p>
          <a:p>
            <a:pPr>
              <a:buNone/>
            </a:pPr>
            <a:endParaRPr lang="en-US" sz="2400" i="1">
              <a:solidFill>
                <a:srgbClr val="002060"/>
              </a:solidFill>
            </a:endParaRPr>
          </a:p>
          <a:p>
            <a:pPr>
              <a:buNone/>
            </a:pPr>
            <a:endParaRPr lang="en-US" sz="2400" i="1">
              <a:solidFill>
                <a:srgbClr val="002060"/>
              </a:solidFill>
            </a:endParaRPr>
          </a:p>
          <a:p>
            <a:pPr>
              <a:buNone/>
            </a:pPr>
            <a:endParaRPr lang="en-US" sz="2400" i="1">
              <a:solidFill>
                <a:srgbClr val="002060"/>
              </a:solidFill>
            </a:endParaRPr>
          </a:p>
          <a:p>
            <a:pPr>
              <a:buNone/>
            </a:pPr>
            <a:endParaRPr lang="en-US" sz="24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2060"/>
                </a:solidFill>
              </a:rPr>
              <a:t>Descriptive and Prescrptive Program</a:t>
            </a:r>
          </a:p>
        </p:txBody>
      </p:sp>
      <p:sp>
        <p:nvSpPr>
          <p:cNvPr id="3" name="Content Placeholder 2"/>
          <p:cNvSpPr>
            <a:spLocks noGrp="1"/>
          </p:cNvSpPr>
          <p:nvPr>
            <p:ph idx="1"/>
          </p:nvPr>
        </p:nvSpPr>
        <p:spPr>
          <a:xfrm>
            <a:off x="152400" y="2209800"/>
            <a:ext cx="8229600" cy="4191000"/>
          </a:xfrm>
        </p:spPr>
        <p:txBody>
          <a:bodyPr>
            <a:normAutofit fontScale="77500" lnSpcReduction="20000"/>
          </a:bodyPr>
          <a:lstStyle/>
          <a:p>
            <a:pPr>
              <a:buNone/>
            </a:pPr>
            <a:r>
              <a:rPr lang="en-US" sz="3400">
                <a:solidFill>
                  <a:srgbClr val="002060"/>
                </a:solidFill>
              </a:rPr>
              <a:t>    In addition to exploring the forces that shape dishonesty, one of the main pratical benefits of the behavioral economics approach is that it shows us the internal and environmental influences on behavior. </a:t>
            </a:r>
          </a:p>
          <a:p>
            <a:pPr>
              <a:buNone/>
            </a:pPr>
            <a:endParaRPr lang="en-US" sz="2400">
              <a:solidFill>
                <a:srgbClr val="002060"/>
              </a:solidFill>
            </a:endParaRPr>
          </a:p>
          <a:p>
            <a:pPr>
              <a:buNone/>
            </a:pPr>
            <a:r>
              <a:rPr lang="en-US" sz="2400">
                <a:solidFill>
                  <a:srgbClr val="002060"/>
                </a:solidFill>
              </a:rPr>
              <a:t>     </a:t>
            </a:r>
            <a:r>
              <a:rPr lang="en-US" sz="3400">
                <a:solidFill>
                  <a:srgbClr val="002060"/>
                </a:solidFill>
              </a:rPr>
              <a:t>Once we more clearly understand the forces that really drive us, we discover that we are not helpless in the face of our human follies (dishonesty included), that we can restructure our environment, and that by doing so we can achieve better behaviors and outcomes. </a:t>
            </a:r>
            <a:endParaRPr lang="en-US" sz="2400">
              <a:solidFill>
                <a:srgbClr val="002060"/>
              </a:solidFill>
            </a:endParaRPr>
          </a:p>
          <a:p>
            <a:pPr>
              <a:buNone/>
            </a:pPr>
            <a:endParaRPr lang="en-US" sz="240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8229600" cy="1066800"/>
          </a:xfrm>
        </p:spPr>
        <p:txBody>
          <a:bodyPr>
            <a:noAutofit/>
          </a:bodyPr>
          <a:lstStyle/>
          <a:p>
            <a:r>
              <a:rPr lang="en-US" sz="2800">
                <a:solidFill>
                  <a:srgbClr val="002060"/>
                </a:solidFill>
              </a:rPr>
              <a:t>SMORC: Simple Model of Rational Crime</a:t>
            </a:r>
          </a:p>
        </p:txBody>
      </p:sp>
      <p:sp>
        <p:nvSpPr>
          <p:cNvPr id="3" name="Content Placeholder 2"/>
          <p:cNvSpPr>
            <a:spLocks noGrp="1"/>
          </p:cNvSpPr>
          <p:nvPr>
            <p:ph idx="1"/>
          </p:nvPr>
        </p:nvSpPr>
        <p:spPr>
          <a:xfrm>
            <a:off x="0" y="1905000"/>
            <a:ext cx="4648200" cy="4114800"/>
          </a:xfrm>
        </p:spPr>
        <p:txBody>
          <a:bodyPr>
            <a:noAutofit/>
          </a:bodyPr>
          <a:lstStyle/>
          <a:p>
            <a:pPr>
              <a:buNone/>
            </a:pPr>
            <a:r>
              <a:rPr lang="en-US" sz="1800">
                <a:solidFill>
                  <a:srgbClr val="002060"/>
                </a:solidFill>
              </a:rPr>
              <a:t> Everyone is a Utiliatrian:</a:t>
            </a:r>
          </a:p>
          <a:p>
            <a:pPr>
              <a:buNone/>
            </a:pPr>
            <a:endParaRPr kumimoji="0" lang="en-US" sz="1800" kern="1200" baseline="0">
              <a:solidFill>
                <a:srgbClr val="002060"/>
              </a:solidFill>
              <a:latin typeface="+mn-lt"/>
              <a:ea typeface="+mn-ea"/>
              <a:cs typeface="+mn-cs"/>
            </a:endParaRPr>
          </a:p>
          <a:p>
            <a:pPr>
              <a:buNone/>
            </a:pPr>
            <a:r>
              <a:rPr kumimoji="0" lang="en-US" sz="1800" kern="1200" baseline="0">
                <a:solidFill>
                  <a:srgbClr val="002060"/>
                </a:solidFill>
                <a:latin typeface="+mn-lt"/>
                <a:ea typeface="+mn-ea"/>
                <a:cs typeface="+mn-cs"/>
              </a:rPr>
              <a:t>     Descriptive claim: We all conduct a cost/benefit analysis using three basic</a:t>
            </a:r>
            <a:r>
              <a:rPr kumimoji="0" lang="en-US" sz="1800" kern="1200">
                <a:solidFill>
                  <a:srgbClr val="002060"/>
                </a:solidFill>
                <a:latin typeface="+mn-lt"/>
                <a:ea typeface="+mn-ea"/>
                <a:cs typeface="+mn-cs"/>
              </a:rPr>
              <a:t> </a:t>
            </a:r>
            <a:r>
              <a:rPr kumimoji="0" lang="en-US" sz="1800" kern="1200" baseline="0">
                <a:solidFill>
                  <a:srgbClr val="002060"/>
                </a:solidFill>
                <a:latin typeface="+mn-lt"/>
                <a:ea typeface="+mn-ea"/>
                <a:cs typeface="+mn-cs"/>
              </a:rPr>
              <a:t>variables: </a:t>
            </a:r>
            <a:r>
              <a:rPr kumimoji="0" lang="en-US" sz="1800" kern="1200">
                <a:solidFill>
                  <a:srgbClr val="002060"/>
                </a:solidFill>
                <a:latin typeface="+mn-lt"/>
                <a:ea typeface="+mn-ea"/>
                <a:cs typeface="+mn-cs"/>
              </a:rPr>
              <a:t>(1) the benefit that one stands to gain from the crime; (2) the probability of getting caught; and (3) the expected punishment if one is caught. </a:t>
            </a:r>
          </a:p>
          <a:p>
            <a:pPr>
              <a:buNone/>
            </a:pPr>
            <a:endParaRPr kumimoji="0" lang="en-US" sz="1800" kern="1200">
              <a:solidFill>
                <a:srgbClr val="002060"/>
              </a:solidFill>
              <a:latin typeface="+mn-lt"/>
              <a:ea typeface="+mn-ea"/>
              <a:cs typeface="+mn-cs"/>
            </a:endParaRPr>
          </a:p>
          <a:p>
            <a:pPr marL="365760" marR="0" indent="-256032" algn="l" defTabSz="914400" rtl="0" eaLnBrk="1" fontAlgn="auto" latinLnBrk="0" hangingPunct="1">
              <a:lnSpc>
                <a:spcPct val="100000"/>
              </a:lnSpc>
              <a:spcBef>
                <a:spcPts val="300"/>
              </a:spcBef>
              <a:spcAft>
                <a:spcPts val="0"/>
              </a:spcAft>
              <a:buClr>
                <a:schemeClr val="accent3"/>
              </a:buClr>
              <a:buSzTx/>
              <a:buFont typeface="Georgia"/>
              <a:buNone/>
              <a:tabLst/>
              <a:defRPr/>
            </a:pPr>
            <a:r>
              <a:rPr kumimoji="0" lang="en-US" sz="1800" kern="1200">
                <a:solidFill>
                  <a:srgbClr val="002060"/>
                </a:solidFill>
                <a:latin typeface="+mn-lt"/>
                <a:ea typeface="+mn-ea"/>
                <a:cs typeface="+mn-cs"/>
              </a:rPr>
              <a:t>     Prescriptive claim: There are two ways to curb cheating/crime.</a:t>
            </a:r>
            <a:r>
              <a:rPr kumimoji="0" lang="en-US" sz="1800" kern="1200" baseline="0">
                <a:solidFill>
                  <a:srgbClr val="002060"/>
                </a:solidFill>
                <a:latin typeface="+mn-lt"/>
                <a:ea typeface="+mn-ea"/>
                <a:cs typeface="+mn-cs"/>
              </a:rPr>
              <a:t> First, </a:t>
            </a:r>
            <a:r>
              <a:rPr kumimoji="0" lang="en-US" sz="1800" kern="1200">
                <a:solidFill>
                  <a:srgbClr val="002060"/>
                </a:solidFill>
                <a:latin typeface="+mn-lt"/>
                <a:ea typeface="+mn-ea"/>
                <a:cs typeface="+mn-cs"/>
              </a:rPr>
              <a:t>increase the probability of being caught (e.g. more police, cameras, etc). Second, increase the magnitude of punishment (e.g.</a:t>
            </a:r>
            <a:r>
              <a:rPr kumimoji="0" lang="en-US" sz="1800" kern="1200" baseline="0">
                <a:solidFill>
                  <a:srgbClr val="002060"/>
                </a:solidFill>
                <a:latin typeface="+mn-lt"/>
                <a:ea typeface="+mn-ea"/>
                <a:cs typeface="+mn-cs"/>
              </a:rPr>
              <a:t> </a:t>
            </a:r>
            <a:r>
              <a:rPr kumimoji="0" lang="en-US" sz="1800" kern="1200">
                <a:solidFill>
                  <a:srgbClr val="002060"/>
                </a:solidFill>
                <a:latin typeface="+mn-lt"/>
                <a:ea typeface="+mn-ea"/>
                <a:cs typeface="+mn-cs"/>
              </a:rPr>
              <a:t>longer prison</a:t>
            </a:r>
            <a:r>
              <a:rPr kumimoji="0" lang="en-US" sz="1800" kern="1200" baseline="0">
                <a:solidFill>
                  <a:srgbClr val="002060"/>
                </a:solidFill>
                <a:latin typeface="+mn-lt"/>
                <a:ea typeface="+mn-ea"/>
                <a:cs typeface="+mn-cs"/>
              </a:rPr>
              <a:t> </a:t>
            </a:r>
            <a:r>
              <a:rPr kumimoji="0" lang="en-US" sz="1800" kern="1200">
                <a:solidFill>
                  <a:srgbClr val="002060"/>
                </a:solidFill>
                <a:latin typeface="+mn-lt"/>
                <a:ea typeface="+mn-ea"/>
                <a:cs typeface="+mn-cs"/>
              </a:rPr>
              <a:t>sentences,</a:t>
            </a:r>
            <a:r>
              <a:rPr kumimoji="0" lang="en-US" sz="1800" kern="1200" baseline="0">
                <a:solidFill>
                  <a:srgbClr val="002060"/>
                </a:solidFill>
                <a:latin typeface="+mn-lt"/>
                <a:ea typeface="+mn-ea"/>
                <a:cs typeface="+mn-cs"/>
              </a:rPr>
              <a:t> bigger </a:t>
            </a:r>
            <a:r>
              <a:rPr kumimoji="0" lang="en-US" sz="1800" kern="1200">
                <a:solidFill>
                  <a:srgbClr val="002060"/>
                </a:solidFill>
                <a:latin typeface="+mn-lt"/>
                <a:ea typeface="+mn-ea"/>
                <a:cs typeface="+mn-cs"/>
              </a:rPr>
              <a:t>fines,</a:t>
            </a:r>
            <a:r>
              <a:rPr kumimoji="0" lang="en-US" sz="1800" kern="1200" baseline="0">
                <a:solidFill>
                  <a:srgbClr val="002060"/>
                </a:solidFill>
                <a:latin typeface="+mn-lt"/>
                <a:ea typeface="+mn-ea"/>
                <a:cs typeface="+mn-cs"/>
              </a:rPr>
              <a:t> etc.</a:t>
            </a:r>
            <a:r>
              <a:rPr kumimoji="0" lang="en-US" sz="1800" kern="1200">
                <a:solidFill>
                  <a:srgbClr val="002060"/>
                </a:solidFill>
                <a:latin typeface="+mn-lt"/>
                <a:ea typeface="+mn-ea"/>
                <a:cs typeface="+mn-cs"/>
              </a:rPr>
              <a:t>)</a:t>
            </a:r>
          </a:p>
          <a:p>
            <a:pPr>
              <a:buNone/>
            </a:pPr>
            <a:endParaRPr lang="en-US" sz="1800">
              <a:solidFill>
                <a:srgbClr val="002060"/>
              </a:solidFill>
            </a:endParaRPr>
          </a:p>
          <a:p>
            <a:pPr>
              <a:buNone/>
            </a:pPr>
            <a:endParaRPr lang="en-US" sz="1800">
              <a:solidFill>
                <a:srgbClr val="002060"/>
              </a:solidFill>
            </a:endParaRPr>
          </a:p>
          <a:p>
            <a:pPr>
              <a:buNone/>
            </a:pPr>
            <a:endParaRPr lang="en-US" sz="1800">
              <a:solidFill>
                <a:srgbClr val="002060"/>
              </a:solidFill>
            </a:endParaRPr>
          </a:p>
          <a:p>
            <a:pPr>
              <a:buNone/>
            </a:pPr>
            <a:endParaRPr lang="en-US" sz="1800">
              <a:solidFill>
                <a:srgbClr val="002060"/>
              </a:solidFill>
            </a:endParaRPr>
          </a:p>
        </p:txBody>
      </p:sp>
      <p:pic>
        <p:nvPicPr>
          <p:cNvPr id="2050" name="Picture 2" descr="http://www.cmegroup.com/stories/_files/images/04-futures-products/futures-products-chicago-school-panel-05.jpg"/>
          <p:cNvPicPr>
            <a:picLocks noChangeAspect="1" noChangeArrowheads="1"/>
          </p:cNvPicPr>
          <p:nvPr/>
        </p:nvPicPr>
        <p:blipFill>
          <a:blip r:embed="rId2" cstate="print"/>
          <a:srcRect/>
          <a:stretch>
            <a:fillRect/>
          </a:stretch>
        </p:blipFill>
        <p:spPr bwMode="auto">
          <a:xfrm>
            <a:off x="4619625" y="2133600"/>
            <a:ext cx="4524375" cy="2238376"/>
          </a:xfrm>
          <a:prstGeom prst="rect">
            <a:avLst/>
          </a:prstGeom>
          <a:noFill/>
        </p:spPr>
      </p:pic>
      <p:sp>
        <p:nvSpPr>
          <p:cNvPr id="8" name="Rectangle 7"/>
          <p:cNvSpPr/>
          <p:nvPr/>
        </p:nvSpPr>
        <p:spPr>
          <a:xfrm>
            <a:off x="4988119" y="4495800"/>
            <a:ext cx="4155881" cy="646331"/>
          </a:xfrm>
          <a:prstGeom prst="rect">
            <a:avLst/>
          </a:prstGeom>
        </p:spPr>
        <p:txBody>
          <a:bodyPr wrap="none">
            <a:spAutoFit/>
          </a:bodyPr>
          <a:lstStyle/>
          <a:p>
            <a:r>
              <a:rPr lang="en-US">
                <a:solidFill>
                  <a:srgbClr val="002060"/>
                </a:solidFill>
              </a:rPr>
              <a:t>Gary Becker, Chicago School of Economics </a:t>
            </a:r>
          </a:p>
          <a:p>
            <a:r>
              <a:rPr lang="en-US">
                <a:solidFill>
                  <a:srgbClr val="002060"/>
                </a:solidFill>
              </a:rPr>
              <a:t>Nobel Laureate, </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133600"/>
            <a:ext cx="7086600" cy="1066800"/>
          </a:xfrm>
        </p:spPr>
        <p:txBody>
          <a:bodyPr>
            <a:noAutofit/>
          </a:bodyPr>
          <a:lstStyle/>
          <a:p>
            <a:pPr rtl="0" eaLnBrk="1" latinLnBrk="0" hangingPunct="1"/>
            <a:br>
              <a:rPr lang="en-US" sz="2400">
                <a:solidFill>
                  <a:srgbClr val="002060"/>
                </a:solidFill>
              </a:rPr>
            </a:br>
            <a:br>
              <a:rPr lang="en-US" sz="2400">
                <a:solidFill>
                  <a:srgbClr val="002060"/>
                </a:solidFill>
              </a:rPr>
            </a:br>
            <a:r>
              <a:rPr lang="en-US" sz="2400">
                <a:solidFill>
                  <a:srgbClr val="002060"/>
                </a:solidFill>
              </a:rPr>
              <a:t>Two</a:t>
            </a:r>
            <a:r>
              <a:rPr lang="en-US" sz="2400" baseline="0">
                <a:solidFill>
                  <a:srgbClr val="002060"/>
                </a:solidFill>
              </a:rPr>
              <a:t> Testable Implications of S</a:t>
            </a:r>
            <a:r>
              <a:rPr lang="en-US" sz="2400">
                <a:solidFill>
                  <a:srgbClr val="002060"/>
                </a:solidFill>
              </a:rPr>
              <a:t>MORC:</a:t>
            </a:r>
            <a:r>
              <a:rPr lang="en-US" sz="2400" baseline="0">
                <a:solidFill>
                  <a:srgbClr val="002060"/>
                </a:solidFill>
              </a:rPr>
              <a:t> </a:t>
            </a:r>
            <a:endParaRPr lang="en-US" sz="2400"/>
          </a:p>
          <a:p>
            <a:pPr rtl="0" eaLnBrk="1" latinLnBrk="0" hangingPunct="1"/>
            <a:endParaRPr kumimoji="0" lang="en-US" sz="2400" kern="1200">
              <a:solidFill>
                <a:schemeClr val="tx2"/>
              </a:solidFill>
              <a:latin typeface="+mj-lt"/>
              <a:ea typeface="+mj-ea"/>
              <a:cs typeface="+mj-cs"/>
            </a:endParaRPr>
          </a:p>
          <a:p>
            <a:pPr rtl="0" eaLnBrk="1" latinLnBrk="0" hangingPunct="1"/>
            <a:r>
              <a:rPr kumimoji="0" lang="en-US" sz="2400" kern="1200">
                <a:solidFill>
                  <a:srgbClr val="002060"/>
                </a:solidFill>
                <a:latin typeface="+mj-lt"/>
                <a:ea typeface="+mj-ea"/>
                <a:cs typeface="+mj-cs"/>
              </a:rPr>
              <a:t>1. The higher the benefit, the more </a:t>
            </a:r>
            <a:endParaRPr lang="en-US" sz="2400">
              <a:solidFill>
                <a:srgbClr val="002060"/>
              </a:solidFill>
            </a:endParaRPr>
          </a:p>
          <a:p>
            <a:pPr rtl="0" eaLnBrk="1" latinLnBrk="0" hangingPunct="1"/>
            <a:r>
              <a:rPr kumimoji="0" lang="en-US" sz="2400" kern="1200">
                <a:solidFill>
                  <a:srgbClr val="002060"/>
                </a:solidFill>
                <a:latin typeface="+mj-lt"/>
                <a:ea typeface="+mj-ea"/>
                <a:cs typeface="+mj-cs"/>
              </a:rPr>
              <a:t>likely somone is to cheat (e.g. more </a:t>
            </a:r>
            <a:endParaRPr lang="en-US" sz="2400">
              <a:solidFill>
                <a:srgbClr val="002060"/>
              </a:solidFill>
            </a:endParaRPr>
          </a:p>
          <a:p>
            <a:pPr rtl="0" eaLnBrk="1" latinLnBrk="0" hangingPunct="1"/>
            <a:r>
              <a:rPr kumimoji="0" lang="en-US" sz="2400" kern="1200">
                <a:solidFill>
                  <a:srgbClr val="002060"/>
                </a:solidFill>
                <a:latin typeface="+mj-lt"/>
                <a:ea typeface="+mj-ea"/>
                <a:cs typeface="+mj-cs"/>
              </a:rPr>
              <a:t>money means more cheating.) </a:t>
            </a:r>
            <a:endParaRPr lang="en-US" sz="2400">
              <a:solidFill>
                <a:srgbClr val="002060"/>
              </a:solidFill>
            </a:endParaRPr>
          </a:p>
          <a:p>
            <a:pPr rtl="0" eaLnBrk="1" latinLnBrk="0" hangingPunct="1"/>
            <a:endParaRPr kumimoji="0" lang="en-US" sz="2400" kern="1200">
              <a:solidFill>
                <a:schemeClr val="tx2"/>
              </a:solidFill>
              <a:latin typeface="+mj-lt"/>
              <a:ea typeface="+mj-ea"/>
              <a:cs typeface="+mj-cs"/>
            </a:endParaRPr>
          </a:p>
          <a:p>
            <a:pPr rtl="0" eaLnBrk="1" latinLnBrk="0" hangingPunct="1"/>
            <a:r>
              <a:rPr kumimoji="0" lang="en-US" sz="2400" kern="1200">
                <a:solidFill>
                  <a:srgbClr val="002060"/>
                </a:solidFill>
                <a:latin typeface="+mj-lt"/>
                <a:ea typeface="+mj-ea"/>
                <a:cs typeface="+mj-cs"/>
              </a:rPr>
              <a:t>2. The higher the cost, the less likely </a:t>
            </a:r>
            <a:endParaRPr lang="en-US" sz="2400">
              <a:solidFill>
                <a:srgbClr val="002060"/>
              </a:solidFill>
            </a:endParaRPr>
          </a:p>
          <a:p>
            <a:pPr rtl="0" eaLnBrk="1" latinLnBrk="0" hangingPunct="1"/>
            <a:r>
              <a:rPr kumimoji="0" lang="en-US" sz="2400" kern="1200">
                <a:solidFill>
                  <a:srgbClr val="002060"/>
                </a:solidFill>
                <a:latin typeface="+mj-lt"/>
                <a:ea typeface="+mj-ea"/>
                <a:cs typeface="+mj-cs"/>
              </a:rPr>
              <a:t>someone is to cheat (e.g. higher chance of getting caught means less cheating.) </a:t>
            </a:r>
            <a:endParaRPr lang="en-US" sz="2400">
              <a:solidFill>
                <a:srgbClr val="002060"/>
              </a:solidFill>
            </a:endParaRPr>
          </a:p>
          <a:p>
            <a:endParaRPr lang="en-US" sz="24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066800"/>
          </a:xfrm>
        </p:spPr>
        <p:txBody>
          <a:bodyPr/>
          <a:lstStyle/>
          <a:p>
            <a:r>
              <a:rPr lang="en-US">
                <a:solidFill>
                  <a:srgbClr val="002060"/>
                </a:solidFill>
              </a:rPr>
              <a:t>Testing SMORC: The Matrix Task </a:t>
            </a:r>
          </a:p>
        </p:txBody>
      </p:sp>
      <p:pic>
        <p:nvPicPr>
          <p:cNvPr id="16386" name="Picture 2" descr="C:\Users\Peter Golub\Desktop\6a00d83534ac5b69e2016306658d71970d.jpg"/>
          <p:cNvPicPr>
            <a:picLocks noGrp="1" noChangeAspect="1" noChangeArrowheads="1"/>
          </p:cNvPicPr>
          <p:nvPr>
            <p:ph idx="1"/>
          </p:nvPr>
        </p:nvPicPr>
        <p:blipFill>
          <a:blip r:embed="rId2" cstate="print"/>
          <a:srcRect/>
          <a:stretch>
            <a:fillRect/>
          </a:stretch>
        </p:blipFill>
        <p:spPr bwMode="auto">
          <a:xfrm>
            <a:off x="990600" y="1295400"/>
            <a:ext cx="3834801" cy="4324350"/>
          </a:xfrm>
          <a:prstGeom prst="rect">
            <a:avLst/>
          </a:prstGeom>
          <a:noFill/>
        </p:spPr>
      </p:pic>
      <p:sp>
        <p:nvSpPr>
          <p:cNvPr id="10" name="Rectangle 9"/>
          <p:cNvSpPr/>
          <p:nvPr/>
        </p:nvSpPr>
        <p:spPr>
          <a:xfrm>
            <a:off x="5029200" y="1447800"/>
            <a:ext cx="4114800" cy="3046988"/>
          </a:xfrm>
          <a:prstGeom prst="rect">
            <a:avLst/>
          </a:prstGeom>
        </p:spPr>
        <p:txBody>
          <a:bodyPr wrap="square">
            <a:spAutoFit/>
          </a:bodyPr>
          <a:lstStyle/>
          <a:p>
            <a:r>
              <a:rPr lang="en-US" sz="3200">
                <a:solidFill>
                  <a:srgbClr val="002060"/>
                </a:solidFill>
              </a:rPr>
              <a:t>Shreders reported 6 correct answers as opposed to the 4 correct answers reported by those who could not shred. </a:t>
            </a:r>
            <a:endParaRPr 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rgbClr val="002060"/>
                </a:solidFill>
              </a:rPr>
              <a:t>Does</a:t>
            </a:r>
            <a:r>
              <a:rPr lang="en-US" baseline="0">
                <a:solidFill>
                  <a:srgbClr val="002060"/>
                </a:solidFill>
              </a:rPr>
              <a:t> making it easier to cheat mean more cheating? </a:t>
            </a:r>
            <a:r>
              <a:rPr lang="en-US">
                <a:solidFill>
                  <a:srgbClr val="002060"/>
                </a:solidFill>
              </a:rPr>
              <a:t> </a:t>
            </a:r>
          </a:p>
        </p:txBody>
      </p:sp>
      <p:sp>
        <p:nvSpPr>
          <p:cNvPr id="4" name="Content Placeholder 3"/>
          <p:cNvSpPr>
            <a:spLocks noGrp="1"/>
          </p:cNvSpPr>
          <p:nvPr>
            <p:ph idx="1"/>
          </p:nvPr>
        </p:nvSpPr>
        <p:spPr/>
        <p:txBody>
          <a:bodyPr>
            <a:normAutofit/>
          </a:bodyPr>
          <a:lstStyle/>
          <a:p>
            <a:pPr marL="624078" indent="-514350">
              <a:buNone/>
            </a:pPr>
            <a:endParaRPr lang="en-US">
              <a:solidFill>
                <a:srgbClr val="002060"/>
              </a:solidFill>
            </a:endParaRPr>
          </a:p>
          <a:p>
            <a:pPr marL="624078" indent="-514350">
              <a:buNone/>
            </a:pPr>
            <a:r>
              <a:rPr lang="en-US">
                <a:solidFill>
                  <a:srgbClr val="002060"/>
                </a:solidFill>
              </a:rPr>
              <a:t>       After</a:t>
            </a:r>
            <a:r>
              <a:rPr lang="en-US" baseline="0">
                <a:solidFill>
                  <a:srgbClr val="002060"/>
                </a:solidFill>
              </a:rPr>
              <a:t> running variations of the matrix task in which it was even easier to cheat (e.g. </a:t>
            </a:r>
            <a:r>
              <a:rPr lang="en-US" baseline="0" dirty="0">
                <a:solidFill>
                  <a:srgbClr val="002060"/>
                </a:solidFill>
              </a:rPr>
              <a:t>there was </a:t>
            </a:r>
            <a:r>
              <a:rPr lang="en-US" baseline="0">
                <a:solidFill>
                  <a:srgbClr val="002060"/>
                </a:solidFill>
              </a:rPr>
              <a:t>no proctor</a:t>
            </a:r>
            <a:r>
              <a:rPr lang="en-US">
                <a:solidFill>
                  <a:srgbClr val="002060"/>
                </a:solidFill>
              </a:rPr>
              <a:t> </a:t>
            </a:r>
            <a:r>
              <a:rPr lang="en-US" baseline="0">
                <a:solidFill>
                  <a:srgbClr val="002060"/>
                </a:solidFill>
              </a:rPr>
              <a:t>and </a:t>
            </a:r>
            <a:r>
              <a:rPr lang="en-US" baseline="0" dirty="0">
                <a:solidFill>
                  <a:srgbClr val="002060"/>
                </a:solidFill>
              </a:rPr>
              <a:t>subjects would </a:t>
            </a:r>
            <a:r>
              <a:rPr lang="en-US" baseline="0">
                <a:solidFill>
                  <a:srgbClr val="002060"/>
                </a:solidFill>
              </a:rPr>
              <a:t>just pay</a:t>
            </a:r>
            <a:r>
              <a:rPr lang="en-US">
                <a:solidFill>
                  <a:srgbClr val="002060"/>
                </a:solidFill>
              </a:rPr>
              <a:t> themselves </a:t>
            </a:r>
            <a:r>
              <a:rPr lang="en-US" baseline="0">
                <a:solidFill>
                  <a:srgbClr val="002060"/>
                </a:solidFill>
              </a:rPr>
              <a:t>from </a:t>
            </a:r>
            <a:r>
              <a:rPr lang="en-US" baseline="0" dirty="0">
                <a:solidFill>
                  <a:srgbClr val="002060"/>
                </a:solidFill>
              </a:rPr>
              <a:t>a bowl) the rate of cheating was </a:t>
            </a:r>
            <a:r>
              <a:rPr lang="en-US" baseline="0">
                <a:solidFill>
                  <a:srgbClr val="002060"/>
                </a:solidFill>
              </a:rPr>
              <a:t>the same</a:t>
            </a:r>
            <a:r>
              <a:rPr lang="en-US">
                <a:solidFill>
                  <a:srgbClr val="002060"/>
                </a:solidFill>
              </a:rPr>
              <a:t>.</a:t>
            </a:r>
            <a:endParaRPr lang="en-US" baseline="0">
              <a:solidFill>
                <a:srgbClr val="002060"/>
              </a:solidFill>
            </a:endParaRPr>
          </a:p>
          <a:p>
            <a:pPr marL="624078" indent="-514350">
              <a:buNone/>
            </a:pPr>
            <a:endParaRPr lang="en-US">
              <a:solidFill>
                <a:srgbClr val="002060"/>
              </a:solidFill>
            </a:endParaRPr>
          </a:p>
          <a:p>
            <a:pPr marL="624078" indent="-514350">
              <a:buNone/>
            </a:pPr>
            <a:r>
              <a:rPr lang="en-US">
                <a:solidFill>
                  <a:srgbClr val="002060"/>
                </a:solidFill>
              </a:rPr>
              <a:t>	</a:t>
            </a:r>
            <a:endParaRPr lang="en-US" dirty="0">
              <a:solidFill>
                <a:srgbClr val="002060"/>
              </a:solidFill>
            </a:endParaRPr>
          </a:p>
          <a:p>
            <a:pPr marL="624078" indent="-514350">
              <a:buNone/>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2060"/>
                </a:solidFill>
              </a:rPr>
              <a:t>Does</a:t>
            </a:r>
            <a:r>
              <a:rPr lang="en-US" baseline="0" dirty="0">
                <a:solidFill>
                  <a:srgbClr val="002060"/>
                </a:solidFill>
              </a:rPr>
              <a:t> increasing the reward mean more cheating? </a:t>
            </a:r>
            <a:r>
              <a:rPr lang="en-US" dirty="0">
                <a:solidFill>
                  <a:srgbClr val="002060"/>
                </a:solidFill>
              </a:rPr>
              <a:t> </a:t>
            </a:r>
          </a:p>
        </p:txBody>
      </p:sp>
      <p:sp>
        <p:nvSpPr>
          <p:cNvPr id="4" name="Content Placeholder 3"/>
          <p:cNvSpPr>
            <a:spLocks noGrp="1"/>
          </p:cNvSpPr>
          <p:nvPr>
            <p:ph idx="1"/>
          </p:nvPr>
        </p:nvSpPr>
        <p:spPr/>
        <p:txBody>
          <a:bodyPr>
            <a:normAutofit/>
          </a:bodyPr>
          <a:lstStyle/>
          <a:p>
            <a:pPr marL="624078" indent="-514350">
              <a:buNone/>
            </a:pPr>
            <a:endParaRPr lang="en-US" dirty="0">
              <a:solidFill>
                <a:srgbClr val="002060"/>
              </a:solidFill>
            </a:endParaRPr>
          </a:p>
          <a:p>
            <a:pPr marL="624078" indent="-514350">
              <a:buNone/>
            </a:pPr>
            <a:r>
              <a:rPr lang="en-US" dirty="0">
                <a:solidFill>
                  <a:srgbClr val="002060"/>
                </a:solidFill>
              </a:rPr>
              <a:t>After raising</a:t>
            </a:r>
            <a:r>
              <a:rPr lang="en-US" baseline="0" dirty="0">
                <a:solidFill>
                  <a:srgbClr val="002060"/>
                </a:solidFill>
              </a:rPr>
              <a:t> the reward from $00.50 to $1 $2 $5 $10 the rate of cheating was still the same. </a:t>
            </a:r>
          </a:p>
          <a:p>
            <a:pPr marL="624078" indent="-514350">
              <a:buNone/>
            </a:pPr>
            <a:endParaRPr kumimoji="0" lang="en-US" sz="2800" kern="1200" dirty="0">
              <a:solidFill>
                <a:schemeClr val="tx1"/>
              </a:solidFill>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066800"/>
          </a:xfrm>
        </p:spPr>
        <p:txBody>
          <a:bodyPr/>
          <a:lstStyle/>
          <a:p>
            <a:r>
              <a:rPr lang="en-US" dirty="0">
                <a:solidFill>
                  <a:srgbClr val="002060"/>
                </a:solidFill>
              </a:rPr>
              <a:t> </a:t>
            </a:r>
            <a:r>
              <a:rPr kumimoji="0" lang="en-US" sz="2800" kern="1200" dirty="0">
                <a:solidFill>
                  <a:srgbClr val="002060"/>
                </a:solidFill>
                <a:latin typeface="+mn-lt"/>
                <a:ea typeface="+mn-ea"/>
                <a:cs typeface="+mn-cs"/>
              </a:rPr>
              <a:t>Fudge </a:t>
            </a:r>
            <a:r>
              <a:rPr kumimoji="0" lang="en-US" sz="2800" kern="1200">
                <a:solidFill>
                  <a:srgbClr val="002060"/>
                </a:solidFill>
                <a:latin typeface="+mn-lt"/>
                <a:ea typeface="+mn-ea"/>
                <a:cs typeface="+mn-cs"/>
              </a:rPr>
              <a:t>Factor Theory: Two Opposing Factors </a:t>
            </a:r>
            <a:endParaRPr lang="en-US" dirty="0">
              <a:solidFill>
                <a:srgbClr val="002060"/>
              </a:solidFill>
            </a:endParaRPr>
          </a:p>
        </p:txBody>
      </p:sp>
      <p:sp>
        <p:nvSpPr>
          <p:cNvPr id="4" name="Content Placeholder 3"/>
          <p:cNvSpPr>
            <a:spLocks noGrp="1"/>
          </p:cNvSpPr>
          <p:nvPr>
            <p:ph idx="1"/>
          </p:nvPr>
        </p:nvSpPr>
        <p:spPr>
          <a:xfrm>
            <a:off x="228600" y="838200"/>
            <a:ext cx="8229600" cy="2743200"/>
          </a:xfrm>
        </p:spPr>
        <p:txBody>
          <a:bodyPr>
            <a:normAutofit lnSpcReduction="10000"/>
          </a:bodyPr>
          <a:lstStyle/>
          <a:p>
            <a:pPr marL="624078" indent="-514350">
              <a:buNone/>
            </a:pPr>
            <a:r>
              <a:rPr lang="en-US" sz="2400">
                <a:solidFill>
                  <a:srgbClr val="002060"/>
                </a:solidFill>
              </a:rPr>
              <a:t>1)  </a:t>
            </a:r>
            <a:r>
              <a:rPr kumimoji="0" lang="en-US" sz="2400" kern="1200">
                <a:solidFill>
                  <a:srgbClr val="002060"/>
                </a:solidFill>
                <a:latin typeface="+mn-lt"/>
                <a:ea typeface="+mn-ea"/>
                <a:cs typeface="+mn-cs"/>
              </a:rPr>
              <a:t>Ego </a:t>
            </a:r>
            <a:r>
              <a:rPr kumimoji="0" lang="en-US" sz="2400" kern="1200" dirty="0">
                <a:solidFill>
                  <a:srgbClr val="002060"/>
                </a:solidFill>
                <a:latin typeface="+mn-lt"/>
                <a:ea typeface="+mn-ea"/>
                <a:cs typeface="+mn-cs"/>
              </a:rPr>
              <a:t>Motivation: We want to view ourselves </a:t>
            </a:r>
            <a:r>
              <a:rPr kumimoji="0" lang="en-US" sz="2400" kern="1200">
                <a:solidFill>
                  <a:srgbClr val="002060"/>
                </a:solidFill>
                <a:latin typeface="+mn-lt"/>
                <a:ea typeface="+mn-ea"/>
                <a:cs typeface="+mn-cs"/>
              </a:rPr>
              <a:t>as honest.  </a:t>
            </a:r>
          </a:p>
          <a:p>
            <a:pPr marL="566928" indent="-457200">
              <a:buNone/>
            </a:pPr>
            <a:r>
              <a:rPr kumimoji="0" lang="en-US" sz="2400" kern="1200">
                <a:solidFill>
                  <a:srgbClr val="002060"/>
                </a:solidFill>
                <a:latin typeface="+mn-lt"/>
                <a:ea typeface="+mn-ea"/>
                <a:cs typeface="+mn-cs"/>
              </a:rPr>
              <a:t>2)  Profit Motivation</a:t>
            </a:r>
            <a:r>
              <a:rPr kumimoji="0" lang="en-US" sz="2400" kern="1200" dirty="0">
                <a:solidFill>
                  <a:srgbClr val="002060"/>
                </a:solidFill>
                <a:latin typeface="+mn-lt"/>
                <a:ea typeface="+mn-ea"/>
                <a:cs typeface="+mn-cs"/>
              </a:rPr>
              <a:t>:  We want as much </a:t>
            </a:r>
            <a:r>
              <a:rPr kumimoji="0" lang="en-US" sz="2400" kern="1200">
                <a:solidFill>
                  <a:srgbClr val="002060"/>
                </a:solidFill>
                <a:latin typeface="+mn-lt"/>
                <a:ea typeface="+mn-ea"/>
                <a:cs typeface="+mn-cs"/>
              </a:rPr>
              <a:t>personal gain as possible (e.g</a:t>
            </a:r>
            <a:r>
              <a:rPr kumimoji="0" lang="en-US" sz="2400" kern="1200" dirty="0">
                <a:solidFill>
                  <a:srgbClr val="002060"/>
                </a:solidFill>
                <a:latin typeface="+mn-lt"/>
                <a:ea typeface="+mn-ea"/>
                <a:cs typeface="+mn-cs"/>
              </a:rPr>
              <a:t>. money, prestige, sex, </a:t>
            </a:r>
            <a:r>
              <a:rPr kumimoji="0" lang="en-US" sz="2400" kern="1200">
                <a:solidFill>
                  <a:srgbClr val="002060"/>
                </a:solidFill>
                <a:latin typeface="+mn-lt"/>
                <a:ea typeface="+mn-ea"/>
                <a:cs typeface="+mn-cs"/>
              </a:rPr>
              <a:t>etc.).</a:t>
            </a:r>
          </a:p>
          <a:p>
            <a:pPr>
              <a:buNone/>
            </a:pPr>
            <a:r>
              <a:rPr lang="en-US" sz="2400">
                <a:solidFill>
                  <a:srgbClr val="002060"/>
                </a:solidFill>
              </a:rPr>
              <a:t>  </a:t>
            </a:r>
          </a:p>
          <a:p>
            <a:pPr>
              <a:buNone/>
            </a:pPr>
            <a:r>
              <a:rPr lang="en-US" sz="2400">
                <a:solidFill>
                  <a:srgbClr val="002060"/>
                </a:solidFill>
              </a:rPr>
              <a:t>    </a:t>
            </a:r>
            <a:r>
              <a:rPr lang="en-US" sz="2400" dirty="0">
                <a:solidFill>
                  <a:srgbClr val="002060"/>
                </a:solidFill>
              </a:rPr>
              <a:t>Cheating allows us to </a:t>
            </a:r>
            <a:r>
              <a:rPr kumimoji="0" lang="en-US" sz="2400" kern="1200" dirty="0">
                <a:solidFill>
                  <a:srgbClr val="002060"/>
                </a:solidFill>
                <a:latin typeface="+mn-lt"/>
                <a:ea typeface="+mn-ea"/>
                <a:cs typeface="+mn-cs"/>
              </a:rPr>
              <a:t>have our pie and eat it too, by fudging </a:t>
            </a:r>
            <a:r>
              <a:rPr kumimoji="0" lang="en-US" sz="2400" kern="1200">
                <a:solidFill>
                  <a:srgbClr val="002060"/>
                </a:solidFill>
                <a:latin typeface="+mn-lt"/>
                <a:ea typeface="+mn-ea"/>
                <a:cs typeface="+mn-cs"/>
              </a:rPr>
              <a:t>the truth </a:t>
            </a:r>
            <a:r>
              <a:rPr kumimoji="0" lang="en-US" sz="2400" kern="1200" dirty="0">
                <a:solidFill>
                  <a:srgbClr val="002060"/>
                </a:solidFill>
                <a:latin typeface="+mn-lt"/>
                <a:ea typeface="+mn-ea"/>
                <a:cs typeface="+mn-cs"/>
              </a:rPr>
              <a:t>only a little bit and by practicing rationalization (conscious lying) and self-deception (unconscious lying). </a:t>
            </a:r>
          </a:p>
          <a:p>
            <a:endParaRPr kumimoji="0" lang="en-US" sz="2400" kern="1200" dirty="0">
              <a:solidFill>
                <a:srgbClr val="002060"/>
              </a:solidFill>
              <a:latin typeface="+mn-lt"/>
              <a:ea typeface="+mn-ea"/>
              <a:cs typeface="+mn-cs"/>
            </a:endParaRPr>
          </a:p>
          <a:p>
            <a:pPr marL="624078" indent="-514350">
              <a:buNone/>
            </a:pPr>
            <a:endParaRPr lang="en-US" sz="2400" dirty="0">
              <a:solidFill>
                <a:srgbClr val="002060"/>
              </a:solidFill>
            </a:endParaRPr>
          </a:p>
        </p:txBody>
      </p:sp>
      <p:sp>
        <p:nvSpPr>
          <p:cNvPr id="5" name="Rectangle 4"/>
          <p:cNvSpPr/>
          <p:nvPr/>
        </p:nvSpPr>
        <p:spPr>
          <a:xfrm>
            <a:off x="1981200" y="3581400"/>
            <a:ext cx="6858000" cy="3046988"/>
          </a:xfrm>
          <a:prstGeom prst="rect">
            <a:avLst/>
          </a:prstGeom>
        </p:spPr>
        <p:txBody>
          <a:bodyPr wrap="square">
            <a:spAutoFit/>
          </a:bodyPr>
          <a:lstStyle/>
          <a:p>
            <a:pPr marL="624078" indent="-514350">
              <a:buNone/>
            </a:pPr>
            <a:r>
              <a:rPr lang="en-US" i="1" dirty="0">
                <a:solidFill>
                  <a:srgbClr val="002060"/>
                </a:solidFill>
              </a:rPr>
              <a:t> 	</a:t>
            </a:r>
            <a:r>
              <a:rPr lang="en-US" sz="2400" i="1" dirty="0">
                <a:solidFill>
                  <a:srgbClr val="002060"/>
                </a:solidFill>
              </a:rPr>
              <a:t>“I knew a young man once, he was a most conscientious fellow and when he took to fly-fishing, he determined never to exaggerate his hauls by more than 25%. ‘When I have caught 40 fish,’ said he, ‘then I will tell people that I have caught 50, and so on. But I will </a:t>
            </a:r>
            <a:r>
              <a:rPr lang="en-US" sz="2400" i="1">
                <a:solidFill>
                  <a:srgbClr val="002060"/>
                </a:solidFill>
              </a:rPr>
              <a:t>not lie </a:t>
            </a:r>
            <a:r>
              <a:rPr lang="en-US" sz="2400" i="1" dirty="0">
                <a:solidFill>
                  <a:srgbClr val="002060"/>
                </a:solidFill>
              </a:rPr>
              <a:t>any more than that, because it is sinful </a:t>
            </a:r>
            <a:r>
              <a:rPr lang="en-US" sz="2400" i="1">
                <a:solidFill>
                  <a:srgbClr val="002060"/>
                </a:solidFill>
              </a:rPr>
              <a:t>to lie</a:t>
            </a:r>
            <a:r>
              <a:rPr lang="en-US" sz="2400" i="1" dirty="0">
                <a:solidFill>
                  <a:srgbClr val="002060"/>
                </a:solidFill>
              </a:rPr>
              <a:t>.” </a:t>
            </a:r>
          </a:p>
          <a:p>
            <a:pPr marL="624078" indent="-514350">
              <a:buNone/>
            </a:pPr>
            <a:r>
              <a:rPr lang="en-US" sz="2400" dirty="0">
                <a:solidFill>
                  <a:srgbClr val="002060"/>
                </a:solidFill>
              </a:rPr>
              <a:t>		--Jerome K. Jerome, 1889</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33400" y="533400"/>
            <a:ext cx="8229600" cy="5507736"/>
          </a:xfrm>
        </p:spPr>
        <p:txBody>
          <a:bodyPr>
            <a:normAutofit lnSpcReduction="10000"/>
          </a:bodyPr>
          <a:lstStyle/>
          <a:p>
            <a:pPr>
              <a:buNone/>
            </a:pPr>
            <a:r>
              <a:rPr kumimoji="0" lang="en-US" sz="3500" kern="1200">
                <a:solidFill>
                  <a:schemeClr val="tx1"/>
                </a:solidFill>
                <a:latin typeface="+mn-lt"/>
                <a:ea typeface="+mn-ea"/>
                <a:cs typeface="+mn-cs"/>
              </a:rPr>
              <a:t>   </a:t>
            </a:r>
            <a:r>
              <a:rPr lang="en-US">
                <a:solidFill>
                  <a:srgbClr val="002060"/>
                </a:solidFill>
              </a:rPr>
              <a:t>Testing Self-Deception: How Aware Are Subjects of Their Cheating? The IQ Test.</a:t>
            </a:r>
          </a:p>
          <a:p>
            <a:pPr>
              <a:buNone/>
            </a:pPr>
            <a:endParaRPr lang="en-US">
              <a:solidFill>
                <a:srgbClr val="002060"/>
              </a:solidFill>
            </a:endParaRPr>
          </a:p>
          <a:p>
            <a:pPr marL="365760" marR="0" indent="-256032" algn="l" defTabSz="914400" rtl="0" eaLnBrk="1" fontAlgn="auto" latinLnBrk="0" hangingPunct="1">
              <a:lnSpc>
                <a:spcPct val="100000"/>
              </a:lnSpc>
              <a:spcBef>
                <a:spcPts val="300"/>
              </a:spcBef>
              <a:spcAft>
                <a:spcPts val="0"/>
              </a:spcAft>
              <a:buClr>
                <a:schemeClr val="accent3"/>
              </a:buClr>
              <a:buSzTx/>
              <a:buFont typeface="Georgia"/>
              <a:buNone/>
              <a:tabLst/>
              <a:defRPr/>
            </a:pPr>
            <a:r>
              <a:rPr kumimoji="0" lang="en-US" sz="2800" kern="1200">
                <a:solidFill>
                  <a:srgbClr val="002060"/>
                </a:solidFill>
                <a:latin typeface="+mn-lt"/>
                <a:ea typeface="+mn-ea"/>
                <a:cs typeface="+mn-cs"/>
              </a:rPr>
              <a:t>	</a:t>
            </a:r>
            <a:r>
              <a:rPr lang="en-US" sz="2200">
                <a:solidFill>
                  <a:srgbClr val="002060"/>
                </a:solidFill>
              </a:rPr>
              <a:t>Two groups are given a kind of IQ test. The </a:t>
            </a:r>
            <a:r>
              <a:rPr kumimoji="0" lang="en-US" sz="2200" kern="1200">
                <a:solidFill>
                  <a:srgbClr val="002060"/>
                </a:solidFill>
                <a:latin typeface="+mn-lt"/>
                <a:ea typeface="+mn-ea"/>
                <a:cs typeface="+mn-cs"/>
              </a:rPr>
              <a:t>control is given no opportunity to cheat, while the experimental group is </a:t>
            </a:r>
            <a:r>
              <a:rPr kumimoji="0" lang="en-US" sz="2200" kern="1200" dirty="0">
                <a:solidFill>
                  <a:srgbClr val="002060"/>
                </a:solidFill>
                <a:latin typeface="+mn-lt"/>
                <a:ea typeface="+mn-ea"/>
                <a:cs typeface="+mn-cs"/>
              </a:rPr>
              <a:t>given an answer key</a:t>
            </a:r>
            <a:r>
              <a:rPr kumimoji="0" lang="en-US" sz="2200" kern="1200">
                <a:solidFill>
                  <a:srgbClr val="002060"/>
                </a:solidFill>
                <a:latin typeface="+mn-lt"/>
                <a:ea typeface="+mn-ea"/>
                <a:cs typeface="+mn-cs"/>
              </a:rPr>
              <a:t>. The experimental group is told </a:t>
            </a:r>
            <a:r>
              <a:rPr kumimoji="0" lang="en-US" sz="2200" kern="1200" dirty="0">
                <a:solidFill>
                  <a:srgbClr val="002060"/>
                </a:solidFill>
                <a:latin typeface="+mn-lt"/>
                <a:ea typeface="+mn-ea"/>
                <a:cs typeface="+mn-cs"/>
              </a:rPr>
              <a:t>that the answer </a:t>
            </a:r>
            <a:r>
              <a:rPr kumimoji="0" lang="en-US" sz="2200" kern="1200">
                <a:solidFill>
                  <a:srgbClr val="002060"/>
                </a:solidFill>
                <a:latin typeface="+mn-lt"/>
                <a:ea typeface="+mn-ea"/>
                <a:cs typeface="+mn-cs"/>
              </a:rPr>
              <a:t>key is meant </a:t>
            </a:r>
            <a:r>
              <a:rPr kumimoji="0" lang="en-US" sz="2200" kern="1200" dirty="0">
                <a:solidFill>
                  <a:srgbClr val="002060"/>
                </a:solidFill>
                <a:latin typeface="+mn-lt"/>
                <a:ea typeface="+mn-ea"/>
                <a:cs typeface="+mn-cs"/>
              </a:rPr>
              <a:t>for verification purposes only. Specifically</a:t>
            </a:r>
            <a:r>
              <a:rPr kumimoji="0" lang="en-US" sz="2200" kern="1200">
                <a:solidFill>
                  <a:srgbClr val="002060"/>
                </a:solidFill>
                <a:latin typeface="+mn-lt"/>
                <a:ea typeface="+mn-ea"/>
                <a:cs typeface="+mn-cs"/>
              </a:rPr>
              <a:t>, they are told </a:t>
            </a:r>
            <a:r>
              <a:rPr kumimoji="0" lang="en-US" sz="2200" kern="1200" dirty="0">
                <a:solidFill>
                  <a:srgbClr val="002060"/>
                </a:solidFill>
                <a:latin typeface="+mn-lt"/>
                <a:ea typeface="+mn-ea"/>
                <a:cs typeface="+mn-cs"/>
              </a:rPr>
              <a:t>that the answer </a:t>
            </a:r>
            <a:r>
              <a:rPr kumimoji="0" lang="en-US" sz="2200" kern="1200">
                <a:solidFill>
                  <a:srgbClr val="002060"/>
                </a:solidFill>
                <a:latin typeface="+mn-lt"/>
                <a:ea typeface="+mn-ea"/>
                <a:cs typeface="+mn-cs"/>
              </a:rPr>
              <a:t>key is there </a:t>
            </a:r>
            <a:r>
              <a:rPr kumimoji="0" lang="en-US" sz="2200" kern="1200" dirty="0">
                <a:solidFill>
                  <a:srgbClr val="002060"/>
                </a:solidFill>
                <a:latin typeface="+mn-lt"/>
                <a:ea typeface="+mn-ea"/>
                <a:cs typeface="+mn-cs"/>
              </a:rPr>
              <a:t>so that they could score how well they did on the test and also to help them estimate in general how good </a:t>
            </a:r>
            <a:r>
              <a:rPr kumimoji="0" lang="en-US" sz="2200" kern="1200">
                <a:solidFill>
                  <a:srgbClr val="002060"/>
                </a:solidFill>
                <a:latin typeface="+mn-lt"/>
                <a:ea typeface="+mn-ea"/>
                <a:cs typeface="+mn-cs"/>
              </a:rPr>
              <a:t>they are at </a:t>
            </a:r>
            <a:r>
              <a:rPr kumimoji="0" lang="en-US" sz="2200" kern="1200" dirty="0">
                <a:solidFill>
                  <a:srgbClr val="002060"/>
                </a:solidFill>
                <a:latin typeface="+mn-lt"/>
                <a:ea typeface="+mn-ea"/>
                <a:cs typeface="+mn-cs"/>
              </a:rPr>
              <a:t>answering these types </a:t>
            </a:r>
            <a:r>
              <a:rPr kumimoji="0" lang="en-US" sz="2200" kern="1200">
                <a:solidFill>
                  <a:srgbClr val="002060"/>
                </a:solidFill>
                <a:latin typeface="+mn-lt"/>
                <a:ea typeface="+mn-ea"/>
                <a:cs typeface="+mn-cs"/>
              </a:rPr>
              <a:t>of questions.</a:t>
            </a:r>
          </a:p>
          <a:p>
            <a:pPr marL="365760" marR="0" indent="-256032" algn="l" defTabSz="914400" rtl="0" eaLnBrk="1" fontAlgn="auto" latinLnBrk="0" hangingPunct="1">
              <a:lnSpc>
                <a:spcPct val="100000"/>
              </a:lnSpc>
              <a:spcBef>
                <a:spcPts val="300"/>
              </a:spcBef>
              <a:spcAft>
                <a:spcPts val="0"/>
              </a:spcAft>
              <a:buClr>
                <a:schemeClr val="accent3"/>
              </a:buClr>
              <a:buSzTx/>
              <a:buFont typeface="Georgia"/>
              <a:buNone/>
              <a:tabLst/>
              <a:defRPr/>
            </a:pPr>
            <a:r>
              <a:rPr kumimoji="0" lang="en-US" sz="2200" kern="1200">
                <a:solidFill>
                  <a:srgbClr val="002060"/>
                </a:solidFill>
                <a:latin typeface="+mn-lt"/>
                <a:ea typeface="+mn-ea"/>
                <a:cs typeface="+mn-cs"/>
              </a:rPr>
              <a:t>	</a:t>
            </a:r>
          </a:p>
          <a:p>
            <a:pPr marL="365760" marR="0" indent="-256032" algn="l" defTabSz="914400" rtl="0" eaLnBrk="1" fontAlgn="auto" latinLnBrk="0" hangingPunct="1">
              <a:lnSpc>
                <a:spcPct val="100000"/>
              </a:lnSpc>
              <a:spcBef>
                <a:spcPts val="300"/>
              </a:spcBef>
              <a:spcAft>
                <a:spcPts val="0"/>
              </a:spcAft>
              <a:buClr>
                <a:schemeClr val="accent3"/>
              </a:buClr>
              <a:buSzTx/>
              <a:buFont typeface="Georgia"/>
              <a:buNone/>
              <a:tabLst/>
              <a:defRPr/>
            </a:pPr>
            <a:r>
              <a:rPr lang="en-US" sz="2200">
                <a:solidFill>
                  <a:srgbClr val="002060"/>
                </a:solidFill>
              </a:rPr>
              <a:t>	T</a:t>
            </a:r>
            <a:r>
              <a:rPr kumimoji="0" lang="en-US" sz="2200" kern="1200">
                <a:solidFill>
                  <a:srgbClr val="002060"/>
                </a:solidFill>
                <a:latin typeface="+mn-lt"/>
                <a:ea typeface="+mn-ea"/>
                <a:cs typeface="+mn-cs"/>
              </a:rPr>
              <a:t>he </a:t>
            </a:r>
            <a:r>
              <a:rPr kumimoji="0" lang="en-US" sz="2200" kern="1200" dirty="0">
                <a:solidFill>
                  <a:srgbClr val="002060"/>
                </a:solidFill>
                <a:latin typeface="+mn-lt"/>
                <a:ea typeface="+mn-ea"/>
                <a:cs typeface="+mn-cs"/>
              </a:rPr>
              <a:t>group that had the opportunity </a:t>
            </a:r>
            <a:r>
              <a:rPr kumimoji="0" lang="en-US" sz="2200" kern="1200">
                <a:solidFill>
                  <a:srgbClr val="002060"/>
                </a:solidFill>
                <a:latin typeface="+mn-lt"/>
                <a:ea typeface="+mn-ea"/>
                <a:cs typeface="+mn-cs"/>
              </a:rPr>
              <a:t>to “check their answers” </a:t>
            </a:r>
            <a:r>
              <a:rPr kumimoji="0" lang="en-US" sz="2200" kern="1200" dirty="0">
                <a:solidFill>
                  <a:srgbClr val="002060"/>
                </a:solidFill>
                <a:latin typeface="+mn-lt"/>
                <a:ea typeface="+mn-ea"/>
                <a:cs typeface="+mn-cs"/>
              </a:rPr>
              <a:t>scored a few points higher on average, which suggested that they had used the answer key not only to score themselves but also to improve </a:t>
            </a:r>
            <a:r>
              <a:rPr kumimoji="0" lang="en-US" sz="2200" kern="1200">
                <a:solidFill>
                  <a:srgbClr val="002060"/>
                </a:solidFill>
                <a:latin typeface="+mn-lt"/>
                <a:ea typeface="+mn-ea"/>
                <a:cs typeface="+mn-cs"/>
              </a:rPr>
              <a:t>their performance. </a:t>
            </a:r>
            <a:endParaRPr kumimoji="0" lang="en-US" sz="2200" kern="1200" dirty="0">
              <a:solidFill>
                <a:srgbClr val="002060"/>
              </a:solidFill>
              <a:latin typeface="+mn-lt"/>
              <a:ea typeface="+mn-ea"/>
              <a:cs typeface="+mn-cs"/>
            </a:endParaRPr>
          </a:p>
          <a:p>
            <a:pPr>
              <a:buNone/>
            </a:pPr>
            <a:endParaRPr kumimoji="0" lang="en-US" sz="2800" kern="1200" dirty="0">
              <a:solidFill>
                <a:schemeClr val="tx1"/>
              </a:solidFill>
              <a:latin typeface="+mn-lt"/>
              <a:ea typeface="+mn-ea"/>
              <a:cs typeface="+mn-cs"/>
            </a:endParaRPr>
          </a:p>
          <a:p>
            <a:pPr>
              <a:buNone/>
            </a:pPr>
            <a:endParaRPr kumimoji="0" lang="en-US" sz="2800" kern="1200" dirty="0">
              <a:solidFill>
                <a:schemeClr val="tx1"/>
              </a:solidFill>
              <a:latin typeface="+mn-lt"/>
              <a:ea typeface="+mn-ea"/>
              <a:cs typeface="+mn-cs"/>
            </a:endParaRPr>
          </a:p>
          <a:p>
            <a:pPr marL="624078" indent="-514350">
              <a:buNone/>
            </a:pPr>
            <a:endParaRPr lang="en-US" dirty="0">
              <a:solidFill>
                <a:srgbClr val="0020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04800"/>
            <a:ext cx="8229600" cy="5507736"/>
          </a:xfrm>
        </p:spPr>
        <p:txBody>
          <a:bodyPr>
            <a:normAutofit fontScale="85000" lnSpcReduction="20000"/>
          </a:bodyPr>
          <a:lstStyle/>
          <a:p>
            <a:pPr>
              <a:buNone/>
            </a:pPr>
            <a:endParaRPr kumimoji="0" lang="en-US" sz="2800" kern="1200" dirty="0">
              <a:solidFill>
                <a:schemeClr val="tx1"/>
              </a:solidFill>
              <a:latin typeface="+mn-lt"/>
              <a:ea typeface="+mn-ea"/>
              <a:cs typeface="+mn-cs"/>
            </a:endParaRPr>
          </a:p>
          <a:p>
            <a:pPr fontAlgn="base">
              <a:buNone/>
            </a:pPr>
            <a:r>
              <a:rPr lang="en-US" sz="3400" b="1">
                <a:solidFill>
                  <a:srgbClr val="002060"/>
                </a:solidFill>
              </a:rPr>
              <a:t>Testing Self-Deception: 	</a:t>
            </a:r>
          </a:p>
          <a:p>
            <a:pPr fontAlgn="base">
              <a:buNone/>
            </a:pPr>
            <a:endParaRPr kumimoji="0" lang="en-US" sz="2800" kern="1200">
              <a:solidFill>
                <a:srgbClr val="002060"/>
              </a:solidFill>
              <a:latin typeface="+mn-lt"/>
              <a:ea typeface="+mn-ea"/>
              <a:cs typeface="+mn-cs"/>
            </a:endParaRPr>
          </a:p>
          <a:p>
            <a:pPr fontAlgn="base">
              <a:buNone/>
            </a:pPr>
            <a:r>
              <a:rPr kumimoji="0" lang="en-US" sz="2800" kern="1200">
                <a:solidFill>
                  <a:srgbClr val="002060"/>
                </a:solidFill>
                <a:latin typeface="+mn-lt"/>
                <a:ea typeface="+mn-ea"/>
                <a:cs typeface="+mn-cs"/>
              </a:rPr>
              <a:t>    First, the experimenters </a:t>
            </a:r>
            <a:r>
              <a:rPr kumimoji="0" lang="en-US" sz="2800" kern="1200" dirty="0">
                <a:solidFill>
                  <a:srgbClr val="002060"/>
                </a:solidFill>
                <a:latin typeface="+mn-lt"/>
                <a:ea typeface="+mn-ea"/>
                <a:cs typeface="+mn-cs"/>
              </a:rPr>
              <a:t>revealed the test scores to the subjects, and </a:t>
            </a:r>
            <a:r>
              <a:rPr kumimoji="0" lang="en-US" sz="2800" kern="1200">
                <a:solidFill>
                  <a:srgbClr val="002060"/>
                </a:solidFill>
                <a:latin typeface="+mn-lt"/>
                <a:ea typeface="+mn-ea"/>
                <a:cs typeface="+mn-cs"/>
              </a:rPr>
              <a:t>then </a:t>
            </a:r>
            <a:r>
              <a:rPr kumimoji="0" lang="en-US" sz="2800" i="1" kern="1200">
                <a:solidFill>
                  <a:srgbClr val="002060"/>
                </a:solidFill>
                <a:latin typeface="+mn-lt"/>
                <a:ea typeface="+mn-ea"/>
                <a:cs typeface="+mn-cs"/>
              </a:rPr>
              <a:t>asked </a:t>
            </a:r>
            <a:r>
              <a:rPr kumimoji="0" lang="en-US" sz="2800" i="1" kern="1200" dirty="0">
                <a:solidFill>
                  <a:srgbClr val="002060"/>
                </a:solidFill>
                <a:latin typeface="+mn-lt"/>
                <a:ea typeface="+mn-ea"/>
                <a:cs typeface="+mn-cs"/>
              </a:rPr>
              <a:t>the subjects to predict how well they would perform on an IQ test</a:t>
            </a:r>
            <a:r>
              <a:rPr kumimoji="0" lang="en-US" sz="2800" kern="1200" dirty="0">
                <a:solidFill>
                  <a:srgbClr val="002060"/>
                </a:solidFill>
                <a:latin typeface="+mn-lt"/>
                <a:ea typeface="+mn-ea"/>
                <a:cs typeface="+mn-cs"/>
              </a:rPr>
              <a:t> that was similar to </a:t>
            </a:r>
            <a:r>
              <a:rPr kumimoji="0" lang="en-US" sz="2800" kern="1200">
                <a:solidFill>
                  <a:srgbClr val="002060"/>
                </a:solidFill>
                <a:latin typeface="+mn-lt"/>
                <a:ea typeface="+mn-ea"/>
                <a:cs typeface="+mn-cs"/>
              </a:rPr>
              <a:t>but longer. </a:t>
            </a:r>
            <a:r>
              <a:rPr kumimoji="0" lang="en-US" sz="2800" kern="1200" dirty="0">
                <a:solidFill>
                  <a:srgbClr val="002060"/>
                </a:solidFill>
                <a:latin typeface="+mn-lt"/>
                <a:ea typeface="+mn-ea"/>
                <a:cs typeface="+mn-cs"/>
              </a:rPr>
              <a:t>This time neither the control group nor the experimental group would be given an </a:t>
            </a:r>
            <a:r>
              <a:rPr lang="en-US">
                <a:solidFill>
                  <a:srgbClr val="002060"/>
                </a:solidFill>
              </a:rPr>
              <a:t>answer key. </a:t>
            </a:r>
          </a:p>
          <a:p>
            <a:pPr fontAlgn="base">
              <a:buNone/>
            </a:pPr>
            <a:r>
              <a:rPr lang="en-US">
                <a:solidFill>
                  <a:srgbClr val="002060"/>
                </a:solidFill>
              </a:rPr>
              <a:t>	</a:t>
            </a:r>
          </a:p>
          <a:p>
            <a:pPr fontAlgn="base">
              <a:buNone/>
            </a:pPr>
            <a:r>
              <a:rPr lang="en-US">
                <a:solidFill>
                  <a:srgbClr val="002060"/>
                </a:solidFill>
              </a:rPr>
              <a:t>	Those who had a chance to check their answers (and cheated) started believing that their exaggerated performance was a reflection of true skill, and inflated their predictions. </a:t>
            </a:r>
          </a:p>
          <a:p>
            <a:pPr fontAlgn="base">
              <a:buNone/>
            </a:pPr>
            <a:endParaRPr lang="en-US">
              <a:solidFill>
                <a:srgbClr val="002060"/>
              </a:solidFill>
            </a:endParaRPr>
          </a:p>
          <a:p>
            <a:pPr fontAlgn="base">
              <a:buNone/>
            </a:pPr>
            <a:r>
              <a:rPr lang="en-US">
                <a:solidFill>
                  <a:srgbClr val="002060"/>
                </a:solidFill>
              </a:rPr>
              <a:t>    Second, the same test was administered with an award provided for correct predictions. The same results were produced. The initial cheaters inflated their scores despite loss of potential capital. </a:t>
            </a:r>
            <a:endParaRPr kumimoji="0" lang="en-US" sz="2800" kern="1200" dirty="0">
              <a:solidFill>
                <a:schemeClr val="tx1"/>
              </a:solidFill>
              <a:latin typeface="+mn-lt"/>
              <a:ea typeface="+mn-ea"/>
              <a:cs typeface="+mn-cs"/>
            </a:endParaRPr>
          </a:p>
          <a:p>
            <a:pPr marL="624078" indent="-514350">
              <a:buNone/>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066800"/>
          </a:xfrm>
        </p:spPr>
        <p:txBody>
          <a:bodyPr>
            <a:normAutofit/>
          </a:bodyPr>
          <a:lstStyle/>
          <a:p>
            <a:r>
              <a:rPr lang="en-US">
                <a:solidFill>
                  <a:srgbClr val="002060"/>
                </a:solidFill>
              </a:rPr>
              <a:t>     </a:t>
            </a:r>
            <a:r>
              <a:rPr lang="en-US" baseline="0">
                <a:solidFill>
                  <a:srgbClr val="002060"/>
                </a:solidFill>
              </a:rPr>
              <a:t>Imagination </a:t>
            </a:r>
            <a:r>
              <a:rPr lang="en-US" baseline="0" dirty="0">
                <a:solidFill>
                  <a:srgbClr val="002060"/>
                </a:solidFill>
              </a:rPr>
              <a:t>and the Dot Task </a:t>
            </a:r>
            <a:endParaRPr lang="en-US" dirty="0">
              <a:solidFill>
                <a:srgbClr val="002060"/>
              </a:solidFill>
            </a:endParaRPr>
          </a:p>
        </p:txBody>
      </p:sp>
      <p:sp>
        <p:nvSpPr>
          <p:cNvPr id="4" name="Content Placeholder 3"/>
          <p:cNvSpPr>
            <a:spLocks noGrp="1"/>
          </p:cNvSpPr>
          <p:nvPr>
            <p:ph idx="1"/>
          </p:nvPr>
        </p:nvSpPr>
        <p:spPr>
          <a:xfrm>
            <a:off x="228600" y="914400"/>
            <a:ext cx="8229600" cy="5507736"/>
          </a:xfrm>
        </p:spPr>
        <p:txBody>
          <a:bodyPr>
            <a:normAutofit/>
          </a:bodyPr>
          <a:lstStyle/>
          <a:p>
            <a:pPr marL="365760" marR="0" indent="-256032" algn="l" defTabSz="914400" rtl="0" eaLnBrk="1" fontAlgn="base" latinLnBrk="0" hangingPunct="1">
              <a:lnSpc>
                <a:spcPct val="100000"/>
              </a:lnSpc>
              <a:spcBef>
                <a:spcPts val="300"/>
              </a:spcBef>
              <a:spcAft>
                <a:spcPts val="0"/>
              </a:spcAft>
              <a:buClr>
                <a:schemeClr val="accent3"/>
              </a:buClr>
              <a:buSzTx/>
              <a:buFont typeface="Georgia"/>
              <a:buNone/>
              <a:tabLst/>
              <a:defRPr/>
            </a:pPr>
            <a:r>
              <a:rPr kumimoji="0" lang="en-US" sz="2800" kern="1200" baseline="0">
                <a:solidFill>
                  <a:srgbClr val="002060"/>
                </a:solidFill>
                <a:latin typeface="+mn-lt"/>
                <a:ea typeface="+mn-ea"/>
                <a:cs typeface="+mn-cs"/>
              </a:rPr>
              <a:t>   </a:t>
            </a:r>
          </a:p>
          <a:p>
            <a:pPr marL="365760" marR="0" indent="-256032" algn="l" defTabSz="914400" rtl="0" eaLnBrk="1" fontAlgn="base" latinLnBrk="0" hangingPunct="1">
              <a:lnSpc>
                <a:spcPct val="100000"/>
              </a:lnSpc>
              <a:spcBef>
                <a:spcPts val="300"/>
              </a:spcBef>
              <a:spcAft>
                <a:spcPts val="0"/>
              </a:spcAft>
              <a:buClr>
                <a:schemeClr val="accent3"/>
              </a:buClr>
              <a:buSzTx/>
              <a:buFont typeface="Georgia"/>
              <a:buNone/>
              <a:tabLst/>
              <a:defRPr/>
            </a:pPr>
            <a:r>
              <a:rPr kumimoji="0" lang="en-US" sz="2800" kern="1200" baseline="0">
                <a:solidFill>
                  <a:srgbClr val="002060"/>
                </a:solidFill>
                <a:latin typeface="+mn-lt"/>
                <a:ea typeface="+mn-ea"/>
                <a:cs typeface="+mn-cs"/>
              </a:rPr>
              <a:t>	The task: </a:t>
            </a:r>
            <a:r>
              <a:rPr lang="en-US">
                <a:solidFill>
                  <a:srgbClr val="002060"/>
                </a:solidFill>
              </a:rPr>
              <a:t>a subject is presented with a </a:t>
            </a:r>
          </a:p>
          <a:p>
            <a:pPr marL="365760" marR="0" indent="-256032" algn="l" defTabSz="914400" rtl="0" eaLnBrk="1" fontAlgn="base" latinLnBrk="0" hangingPunct="1">
              <a:lnSpc>
                <a:spcPct val="100000"/>
              </a:lnSpc>
              <a:spcBef>
                <a:spcPts val="300"/>
              </a:spcBef>
              <a:spcAft>
                <a:spcPts val="0"/>
              </a:spcAft>
              <a:buClr>
                <a:schemeClr val="accent3"/>
              </a:buClr>
              <a:buSzTx/>
              <a:buFont typeface="Georgia"/>
              <a:buNone/>
              <a:tabLst/>
              <a:defRPr/>
            </a:pPr>
            <a:r>
              <a:rPr lang="en-US">
                <a:solidFill>
                  <a:srgbClr val="002060"/>
                </a:solidFill>
              </a:rPr>
              <a:t>   square divided into two triangles by a diagonal line. The trial starts and for one second, twenty randomly scattered dots flash within the square… Then the dots disappear, leaving the subject with an empty square, the diagonal line, and two response buttons, one marked ‘more-on-right’ and the other marked ‘more-on-left.’ Using these two buttons, the task is to indicate whether there were more dots on the right-hand or left-hand side of the diagonal. </a:t>
            </a:r>
          </a:p>
          <a:p>
            <a:pPr marL="365760" marR="0" indent="-256032" algn="l" defTabSz="914400" rtl="0" eaLnBrk="1" fontAlgn="base" latinLnBrk="0" hangingPunct="1">
              <a:lnSpc>
                <a:spcPct val="100000"/>
              </a:lnSpc>
              <a:spcBef>
                <a:spcPts val="300"/>
              </a:spcBef>
              <a:spcAft>
                <a:spcPts val="0"/>
              </a:spcAft>
              <a:buClr>
                <a:schemeClr val="accent3"/>
              </a:buClr>
              <a:buSzTx/>
              <a:buFont typeface="Georgia"/>
              <a:buNone/>
              <a:tabLst/>
              <a:defRPr/>
            </a:pPr>
            <a:endParaRPr kumimoji="0" lang="en-US" sz="2800" kern="1200">
              <a:solidFill>
                <a:srgbClr val="002060"/>
              </a:solidFill>
              <a:latin typeface="+mn-lt"/>
              <a:ea typeface="+mn-ea"/>
              <a:cs typeface="+mn-cs"/>
            </a:endParaRPr>
          </a:p>
        </p:txBody>
      </p:sp>
      <p:pic>
        <p:nvPicPr>
          <p:cNvPr id="1028" name="Picture 4"/>
          <p:cNvPicPr>
            <a:picLocks noChangeAspect="1" noChangeArrowheads="1"/>
          </p:cNvPicPr>
          <p:nvPr/>
        </p:nvPicPr>
        <p:blipFill>
          <a:blip r:embed="rId2" cstate="print"/>
          <a:srcRect/>
          <a:stretch>
            <a:fillRect/>
          </a:stretch>
        </p:blipFill>
        <p:spPr bwMode="auto">
          <a:xfrm>
            <a:off x="6858000" y="228600"/>
            <a:ext cx="1628775" cy="165735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685800"/>
            <a:ext cx="8229600" cy="5888736"/>
          </a:xfrm>
        </p:spPr>
        <p:txBody>
          <a:bodyPr>
            <a:normAutofit fontScale="92500" lnSpcReduction="20000"/>
          </a:bodyPr>
          <a:lstStyle/>
          <a:p>
            <a:pPr fontAlgn="base">
              <a:buNone/>
            </a:pPr>
            <a:endParaRPr lang="en-US" dirty="0">
              <a:solidFill>
                <a:srgbClr val="002060"/>
              </a:solidFill>
            </a:endParaRPr>
          </a:p>
          <a:p>
            <a:pPr fontAlgn="base">
              <a:buNone/>
            </a:pPr>
            <a:r>
              <a:rPr lang="en-US" sz="3900">
                <a:solidFill>
                  <a:srgbClr val="002060"/>
                </a:solidFill>
              </a:rPr>
              <a:t>Dot Task: </a:t>
            </a:r>
          </a:p>
          <a:p>
            <a:pPr fontAlgn="base">
              <a:buNone/>
            </a:pPr>
            <a:endParaRPr lang="en-US">
              <a:solidFill>
                <a:srgbClr val="002060"/>
              </a:solidFill>
              <a:latin typeface="+mj-lt"/>
              <a:ea typeface="+mj-ea"/>
              <a:cs typeface="+mj-cs"/>
            </a:endParaRPr>
          </a:p>
          <a:p>
            <a:pPr fontAlgn="base">
              <a:buNone/>
            </a:pPr>
            <a:r>
              <a:rPr lang="en-US">
                <a:solidFill>
                  <a:srgbClr val="002060"/>
                </a:solidFill>
                <a:latin typeface="+mj-lt"/>
                <a:ea typeface="+mj-ea"/>
                <a:cs typeface="+mj-cs"/>
              </a:rPr>
              <a:t>    After 100 trials the experimenters know how proficient a subject is at the task. </a:t>
            </a:r>
          </a:p>
          <a:p>
            <a:pPr fontAlgn="base"/>
            <a:endParaRPr lang="en-US">
              <a:solidFill>
                <a:srgbClr val="002060"/>
              </a:solidFill>
              <a:latin typeface="+mj-lt"/>
              <a:ea typeface="+mj-ea"/>
              <a:cs typeface="+mj-cs"/>
            </a:endParaRPr>
          </a:p>
          <a:p>
            <a:pPr fontAlgn="base">
              <a:buNone/>
            </a:pPr>
            <a:r>
              <a:rPr lang="en-US">
                <a:solidFill>
                  <a:srgbClr val="002060"/>
                </a:solidFill>
                <a:latin typeface="+mj-lt"/>
                <a:ea typeface="+mj-ea"/>
                <a:cs typeface="+mj-cs"/>
              </a:rPr>
              <a:t>    Next, the experimenter starts the subject off with another 200 trials. This time, though, there’s a catch: the subject is given a monetary reward </a:t>
            </a:r>
            <a:r>
              <a:rPr lang="en-US" i="1">
                <a:solidFill>
                  <a:srgbClr val="002060"/>
                </a:solidFill>
                <a:latin typeface="+mj-lt"/>
                <a:ea typeface="+mj-ea"/>
                <a:cs typeface="+mj-cs"/>
              </a:rPr>
              <a:t>of ½  a cent every time they press the ‘more-on-right’ button</a:t>
            </a:r>
            <a:r>
              <a:rPr lang="en-US">
                <a:solidFill>
                  <a:srgbClr val="002060"/>
                </a:solidFill>
                <a:latin typeface="+mj-lt"/>
                <a:ea typeface="+mj-ea"/>
                <a:cs typeface="+mj-cs"/>
              </a:rPr>
              <a:t>, and a </a:t>
            </a:r>
            <a:r>
              <a:rPr lang="en-US" i="1">
                <a:solidFill>
                  <a:srgbClr val="002060"/>
                </a:solidFill>
                <a:latin typeface="+mj-lt"/>
                <a:ea typeface="+mj-ea"/>
                <a:cs typeface="+mj-cs"/>
              </a:rPr>
              <a:t>5 cent reward every time they press the ‘more-on-left’ button</a:t>
            </a:r>
            <a:r>
              <a:rPr lang="en-US">
                <a:solidFill>
                  <a:srgbClr val="002060"/>
                </a:solidFill>
                <a:latin typeface="+mj-lt"/>
                <a:ea typeface="+mj-ea"/>
                <a:cs typeface="+mj-cs"/>
              </a:rPr>
              <a:t>, regardless</a:t>
            </a:r>
            <a:r>
              <a:rPr lang="en-US" i="1">
                <a:solidFill>
                  <a:srgbClr val="002060"/>
                </a:solidFill>
                <a:latin typeface="+mj-lt"/>
                <a:ea typeface="+mj-ea"/>
                <a:cs typeface="+mj-cs"/>
              </a:rPr>
              <a:t> of whether or not their response is correct</a:t>
            </a:r>
            <a:r>
              <a:rPr lang="en-US">
                <a:solidFill>
                  <a:srgbClr val="002060"/>
                </a:solidFill>
                <a:latin typeface="+mj-lt"/>
                <a:ea typeface="+mj-ea"/>
                <a:cs typeface="+mj-cs"/>
              </a:rPr>
              <a:t> </a:t>
            </a:r>
          </a:p>
          <a:p>
            <a:pPr fontAlgn="base">
              <a:buNone/>
            </a:pPr>
            <a:endParaRPr lang="en-US">
              <a:solidFill>
                <a:srgbClr val="002060"/>
              </a:solidFill>
              <a:latin typeface="+mj-lt"/>
              <a:ea typeface="+mj-ea"/>
              <a:cs typeface="+mj-cs"/>
            </a:endParaRPr>
          </a:p>
          <a:p>
            <a:pPr fontAlgn="base">
              <a:buNone/>
            </a:pPr>
            <a:r>
              <a:rPr lang="en-US">
                <a:solidFill>
                  <a:srgbClr val="002060"/>
                </a:solidFill>
                <a:latin typeface="+mj-lt"/>
                <a:ea typeface="+mj-ea"/>
                <a:cs typeface="+mj-cs"/>
              </a:rPr>
              <a:t>   Obviously, everyone cheated, but the experimenters wanted to see to what degree a subject’s level of creativity affected their cheating behavior</a:t>
            </a:r>
            <a:endParaRPr lang="en-US">
              <a:solidFill>
                <a:srgbClr val="002060"/>
              </a:solidFill>
            </a:endParaRPr>
          </a:p>
          <a:p>
            <a:pPr fontAlgn="base">
              <a:buNone/>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1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 </a:t>
            </a:r>
          </a:p>
        </p:txBody>
      </p:sp>
      <p:sp>
        <p:nvSpPr>
          <p:cNvPr id="4" name="Content Placeholder 3"/>
          <p:cNvSpPr>
            <a:spLocks noGrp="1"/>
          </p:cNvSpPr>
          <p:nvPr>
            <p:ph idx="1"/>
          </p:nvPr>
        </p:nvSpPr>
        <p:spPr>
          <a:xfrm>
            <a:off x="457200" y="1066800"/>
            <a:ext cx="8229600" cy="5507736"/>
          </a:xfrm>
        </p:spPr>
        <p:txBody>
          <a:bodyPr>
            <a:normAutofit fontScale="85000" lnSpcReduction="20000"/>
          </a:bodyPr>
          <a:lstStyle/>
          <a:p>
            <a:pPr fontAlgn="base">
              <a:buNone/>
            </a:pPr>
            <a:r>
              <a:rPr kumimoji="0" lang="en-US" sz="2800" kern="1200">
                <a:solidFill>
                  <a:srgbClr val="002060"/>
                </a:solidFill>
                <a:latin typeface="+mn-lt"/>
                <a:ea typeface="+mn-ea"/>
                <a:cs typeface="+mn-cs"/>
              </a:rPr>
              <a:t>    Subjects who </a:t>
            </a:r>
            <a:r>
              <a:rPr kumimoji="0" lang="en-US" sz="2800" kern="1200" dirty="0">
                <a:solidFill>
                  <a:srgbClr val="002060"/>
                </a:solidFill>
                <a:latin typeface="+mn-lt"/>
                <a:ea typeface="+mn-ea"/>
                <a:cs typeface="+mn-cs"/>
              </a:rPr>
              <a:t>clicked the more-on-right button (the one with the higher payout) more often tended to be the same people who scored higher </a:t>
            </a:r>
            <a:r>
              <a:rPr kumimoji="0" lang="en-US" sz="2800" kern="1200">
                <a:solidFill>
                  <a:srgbClr val="002060"/>
                </a:solidFill>
                <a:latin typeface="+mn-lt"/>
                <a:ea typeface="+mn-ea"/>
                <a:cs typeface="+mn-cs"/>
              </a:rPr>
              <a:t>on the “creativity measures.” </a:t>
            </a:r>
            <a:r>
              <a:rPr kumimoji="0" lang="en-US" sz="2800" kern="1200" dirty="0">
                <a:solidFill>
                  <a:srgbClr val="002060"/>
                </a:solidFill>
                <a:latin typeface="+mn-lt"/>
                <a:ea typeface="+mn-ea"/>
                <a:cs typeface="+mn-cs"/>
              </a:rPr>
              <a:t>Moreover, the difference between more and less creative individuals was most pronounced in the cases where the difference in the number of dots on the right and left sides was relatively small… when the trials were more </a:t>
            </a:r>
            <a:r>
              <a:rPr kumimoji="0" lang="en-US" sz="2800" kern="1200">
                <a:solidFill>
                  <a:srgbClr val="002060"/>
                </a:solidFill>
                <a:latin typeface="+mn-lt"/>
                <a:ea typeface="+mn-ea"/>
                <a:cs typeface="+mn-cs"/>
              </a:rPr>
              <a:t>ambiguous there was more </a:t>
            </a:r>
            <a:r>
              <a:rPr lang="en-US">
                <a:solidFill>
                  <a:srgbClr val="002060"/>
                </a:solidFill>
              </a:rPr>
              <a:t>for creativity, </a:t>
            </a:r>
            <a:r>
              <a:rPr kumimoji="0" lang="en-US" sz="2800" kern="1200">
                <a:solidFill>
                  <a:srgbClr val="002060"/>
                </a:solidFill>
                <a:latin typeface="+mn-lt"/>
                <a:ea typeface="+mn-ea"/>
                <a:cs typeface="+mn-cs"/>
              </a:rPr>
              <a:t>cheating. </a:t>
            </a:r>
          </a:p>
          <a:p>
            <a:pPr fontAlgn="base">
              <a:buNone/>
            </a:pPr>
            <a:endParaRPr kumimoji="0" lang="en-US" sz="2800" kern="1200" dirty="0">
              <a:solidFill>
                <a:srgbClr val="002060"/>
              </a:solidFill>
              <a:latin typeface="+mn-lt"/>
              <a:ea typeface="+mn-ea"/>
              <a:cs typeface="+mn-cs"/>
            </a:endParaRPr>
          </a:p>
          <a:p>
            <a:pPr>
              <a:buNone/>
            </a:pPr>
            <a:r>
              <a:rPr kumimoji="0" lang="en-US" sz="2800" kern="1200">
                <a:solidFill>
                  <a:srgbClr val="002060"/>
                </a:solidFill>
                <a:latin typeface="+mn-lt"/>
                <a:ea typeface="+mn-ea"/>
                <a:cs typeface="+mn-cs"/>
              </a:rPr>
              <a:t>    Ariely found he could </a:t>
            </a:r>
            <a:r>
              <a:rPr kumimoji="0" lang="en-US" sz="2800" kern="1200" dirty="0">
                <a:solidFill>
                  <a:srgbClr val="002060"/>
                </a:solidFill>
                <a:latin typeface="+mn-lt"/>
                <a:ea typeface="+mn-ea"/>
                <a:cs typeface="+mn-cs"/>
              </a:rPr>
              <a:t>induce their subjects to cheat more just by getting them into a more creative frame of mind by way of priming them with words related to creativity. For instance, in one experiment subjects were asked to form sentences from a list of words. While the control subjects were given neutral words such as ‘sky,’ ‘is,’ ‘the,’ ‘why,’ and ‘blue,’ the experimental group were given creativity-related words such as ‘creative,’ ‘original,’ ‘novel,’ ‘imagination,’ ‘ideas,’ etc</a:t>
            </a:r>
            <a:r>
              <a:rPr kumimoji="0" lang="en-US" sz="2800" kern="1200">
                <a:solidFill>
                  <a:srgbClr val="002060"/>
                </a:solidFill>
                <a:latin typeface="+mn-lt"/>
                <a:ea typeface="+mn-ea"/>
                <a:cs typeface="+mn-cs"/>
              </a:rPr>
              <a:t>. </a:t>
            </a: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solidFill>
                  <a:srgbClr val="002060"/>
                </a:solidFill>
              </a:rPr>
              <a:t>In the Real World</a:t>
            </a:r>
            <a:endParaRPr lang="en-US" sz="3200" dirty="0"/>
          </a:p>
        </p:txBody>
      </p:sp>
      <p:sp>
        <p:nvSpPr>
          <p:cNvPr id="6" name="Content Placeholder 5"/>
          <p:cNvSpPr>
            <a:spLocks noGrp="1"/>
          </p:cNvSpPr>
          <p:nvPr>
            <p:ph idx="1"/>
          </p:nvPr>
        </p:nvSpPr>
        <p:spPr/>
        <p:txBody>
          <a:bodyPr>
            <a:normAutofit fontScale="92500" lnSpcReduction="20000"/>
          </a:bodyPr>
          <a:lstStyle/>
          <a:p>
            <a:pPr>
              <a:buNone/>
            </a:pPr>
            <a:br>
              <a:rPr lang="en-US">
                <a:solidFill>
                  <a:srgbClr val="002060"/>
                </a:solidFill>
              </a:rPr>
            </a:br>
            <a:r>
              <a:rPr lang="en-US">
                <a:solidFill>
                  <a:srgbClr val="002060"/>
                </a:solidFill>
              </a:rPr>
              <a:t>Ariely visited an advertising agency with several different departments, and asked the CEOs of the company to rate how much creativity was required to work in each of the departments. They asked each of the agency’s employees to respond to a series of moral dilemmas: Inflating business expense report, progress reports, stealing office supplies. The level of moral flexibility was correlated with creativity. Designers and copywriters were at the top of the moral flexibility scale, and the accountants at the bottom.</a:t>
            </a:r>
            <a:br>
              <a:rPr lang="en-US">
                <a:solidFill>
                  <a:srgbClr val="002060"/>
                </a:solidFill>
              </a:rPr>
            </a:br>
            <a:endParaRPr lang="en-US">
              <a:solidFill>
                <a:srgbClr val="002060"/>
              </a:solidFill>
            </a:endParaRPr>
          </a:p>
          <a:p>
            <a:endParaRPr lang="en-US">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7"/>
          <p:cNvSpPr/>
          <p:nvPr/>
        </p:nvSpPr>
        <p:spPr>
          <a:xfrm>
            <a:off x="304800" y="1371600"/>
            <a:ext cx="8153400" cy="4770537"/>
          </a:xfrm>
          <a:prstGeom prst="rect">
            <a:avLst/>
          </a:prstGeom>
        </p:spPr>
        <p:txBody>
          <a:bodyPr wrap="square">
            <a:spAutoFit/>
          </a:bodyPr>
          <a:lstStyle/>
          <a:p>
            <a:r>
              <a:rPr lang="en-US" sz="2400">
                <a:solidFill>
                  <a:srgbClr val="002060"/>
                </a:solidFill>
              </a:rPr>
              <a:t>Descriptive claim: The link between creativity and dishonesty is related to people’s ability to tell stories about how they are doing the right thing, even when we are not. The upshot: the more creative we are, the more likely we are to come up with a good story to justify our selfish interests. </a:t>
            </a:r>
          </a:p>
          <a:p>
            <a:endParaRPr lang="en-US" sz="2400">
              <a:solidFill>
                <a:srgbClr val="002060"/>
              </a:solidFill>
            </a:endParaRPr>
          </a:p>
          <a:p>
            <a:r>
              <a:rPr lang="en-US" sz="2400">
                <a:solidFill>
                  <a:srgbClr val="002060"/>
                </a:solidFill>
              </a:rPr>
              <a:t>Prescriptive claim:  We need to better understand the links between creativity and dishonesty and try to restrict the cases in which creative people might be tempted to use their skills to find new ways to cheat. </a:t>
            </a:r>
          </a:p>
          <a:p>
            <a:endParaRPr lang="en-US" sz="2400">
              <a:solidFill>
                <a:srgbClr val="002060"/>
              </a:solidFill>
            </a:endParaRPr>
          </a:p>
          <a:p>
            <a:r>
              <a:rPr lang="en-US" sz="2000">
                <a:solidFill>
                  <a:srgbClr val="002060"/>
                </a:solidFill>
              </a:rPr>
              <a:t>Hmmm … maybe those old ladies at the JFK performance center were just too creative?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kumimoji="0" lang="en-US" sz="4000" b="1" kern="1200" dirty="0">
                <a:solidFill>
                  <a:srgbClr val="002060"/>
                </a:solidFill>
                <a:latin typeface="+mj-lt"/>
                <a:ea typeface="+mj-ea"/>
                <a:cs typeface="+mj-cs"/>
              </a:rPr>
              <a:t>EXTERNAL FACTORS THAT INFLUENCE DISHONEST BEHAVIOR </a:t>
            </a:r>
            <a:endParaRPr kumimoji="0" lang="en-US" sz="4000" kern="1200" dirty="0">
              <a:solidFill>
                <a:srgbClr val="002060"/>
              </a:solidFill>
              <a:latin typeface="+mj-lt"/>
              <a:ea typeface="+mj-ea"/>
              <a:cs typeface="+mj-cs"/>
            </a:endParaRPr>
          </a:p>
        </p:txBody>
      </p:sp>
      <p:pic>
        <p:nvPicPr>
          <p:cNvPr id="30722" name="Picture 2" descr="http://www.buystockdirect.org/articles/wp-content/uploads/2011/04/stock-market-floor-2011.jpg"/>
          <p:cNvPicPr>
            <a:picLocks noChangeAspect="1" noChangeArrowheads="1"/>
          </p:cNvPicPr>
          <p:nvPr/>
        </p:nvPicPr>
        <p:blipFill>
          <a:blip r:embed="rId2" cstate="print"/>
          <a:srcRect/>
          <a:stretch>
            <a:fillRect/>
          </a:stretch>
        </p:blipFill>
        <p:spPr bwMode="auto">
          <a:xfrm>
            <a:off x="2895600" y="2286000"/>
            <a:ext cx="4876800" cy="375285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 </a:t>
            </a:r>
          </a:p>
        </p:txBody>
      </p:sp>
      <p:sp>
        <p:nvSpPr>
          <p:cNvPr id="4" name="Content Placeholder 3"/>
          <p:cNvSpPr>
            <a:spLocks noGrp="1"/>
          </p:cNvSpPr>
          <p:nvPr>
            <p:ph idx="1"/>
          </p:nvPr>
        </p:nvSpPr>
        <p:spPr>
          <a:xfrm>
            <a:off x="457200" y="457200"/>
            <a:ext cx="8229600" cy="5507736"/>
          </a:xfrm>
        </p:spPr>
        <p:txBody>
          <a:bodyPr/>
          <a:lstStyle/>
          <a:p>
            <a:pPr marL="624078" indent="-514350">
              <a:buNone/>
            </a:pPr>
            <a:r>
              <a:rPr lang="en-US" b="1" dirty="0">
                <a:solidFill>
                  <a:srgbClr val="002060"/>
                </a:solidFill>
              </a:rPr>
              <a:t>The Half-Life of </a:t>
            </a:r>
            <a:r>
              <a:rPr lang="en-US" b="1">
                <a:solidFill>
                  <a:srgbClr val="002060"/>
                </a:solidFill>
              </a:rPr>
              <a:t>Coke</a:t>
            </a:r>
            <a:r>
              <a:rPr lang="en-US">
                <a:solidFill>
                  <a:srgbClr val="002060"/>
                </a:solidFill>
              </a:rPr>
              <a:t>: Left </a:t>
            </a:r>
            <a:r>
              <a:rPr lang="en-US" dirty="0">
                <a:solidFill>
                  <a:srgbClr val="002060"/>
                </a:solidFill>
              </a:rPr>
              <a:t>some coolers in the dorms. In some </a:t>
            </a:r>
            <a:r>
              <a:rPr lang="en-US">
                <a:solidFill>
                  <a:srgbClr val="002060"/>
                </a:solidFill>
              </a:rPr>
              <a:t>there were cokes </a:t>
            </a:r>
            <a:r>
              <a:rPr lang="en-US" dirty="0">
                <a:solidFill>
                  <a:srgbClr val="002060"/>
                </a:solidFill>
              </a:rPr>
              <a:t>and in others there were dollar bills</a:t>
            </a:r>
            <a:r>
              <a:rPr lang="en-US">
                <a:solidFill>
                  <a:srgbClr val="002060"/>
                </a:solidFill>
              </a:rPr>
              <a:t>. In </a:t>
            </a:r>
            <a:r>
              <a:rPr lang="en-US" dirty="0">
                <a:solidFill>
                  <a:srgbClr val="002060"/>
                </a:solidFill>
              </a:rPr>
              <a:t>72 hrs. all the cokes were gone, but no one took any of the money</a:t>
            </a:r>
            <a:r>
              <a:rPr lang="en-US">
                <a:solidFill>
                  <a:srgbClr val="002060"/>
                </a:solidFill>
              </a:rPr>
              <a:t>. </a:t>
            </a:r>
          </a:p>
          <a:p>
            <a:pPr marL="624078" indent="-514350">
              <a:buNone/>
            </a:pPr>
            <a:endParaRPr lang="en-US">
              <a:solidFill>
                <a:srgbClr val="002060"/>
              </a:solidFill>
            </a:endParaRPr>
          </a:p>
          <a:p>
            <a:pPr marL="624078" indent="-514350">
              <a:buNone/>
            </a:pPr>
            <a:r>
              <a:rPr lang="en-US" b="1">
                <a:solidFill>
                  <a:srgbClr val="002060"/>
                </a:solidFill>
              </a:rPr>
              <a:t>Tokens</a:t>
            </a:r>
            <a:r>
              <a:rPr lang="en-US">
                <a:solidFill>
                  <a:srgbClr val="002060"/>
                </a:solidFill>
              </a:rPr>
              <a:t>: In the matrix experiment, when people were awarded plastic tokens they would later exchange for money the probability of cheating went up. </a:t>
            </a:r>
          </a:p>
          <a:p>
            <a:pPr marL="624078" indent="-514350">
              <a:buNone/>
            </a:pPr>
            <a:endParaRPr lang="en-US">
              <a:solidFill>
                <a:srgbClr val="002060"/>
              </a:solidFill>
            </a:endParaRPr>
          </a:p>
          <a:p>
            <a:pPr marL="624078" indent="-514350">
              <a:buNone/>
            </a:pPr>
            <a:r>
              <a:rPr lang="en-US" b="1">
                <a:solidFill>
                  <a:srgbClr val="002060"/>
                </a:solidFill>
              </a:rPr>
              <a:t>Conclusion</a:t>
            </a:r>
            <a:r>
              <a:rPr lang="en-US">
                <a:solidFill>
                  <a:srgbClr val="002060"/>
                </a:solidFill>
              </a:rPr>
              <a:t>: The more removed people are from the actual benefit (in this case money), they are more likely to cheat. </a:t>
            </a:r>
          </a:p>
          <a:p>
            <a:pPr marL="624078" indent="-514350">
              <a:buNone/>
            </a:pPr>
            <a:endParaRPr lang="en-US">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 </a:t>
            </a:r>
          </a:p>
        </p:txBody>
      </p:sp>
      <p:sp>
        <p:nvSpPr>
          <p:cNvPr id="4" name="Content Placeholder 3"/>
          <p:cNvSpPr>
            <a:spLocks noGrp="1"/>
          </p:cNvSpPr>
          <p:nvPr>
            <p:ph idx="1"/>
          </p:nvPr>
        </p:nvSpPr>
        <p:spPr>
          <a:xfrm>
            <a:off x="457200" y="1066800"/>
            <a:ext cx="8229600" cy="5507736"/>
          </a:xfrm>
        </p:spPr>
        <p:txBody>
          <a:bodyPr>
            <a:normAutofit/>
          </a:bodyPr>
          <a:lstStyle/>
          <a:p>
            <a:pPr fontAlgn="base">
              <a:buNone/>
            </a:pPr>
            <a:r>
              <a:rPr kumimoji="0" lang="en-US" sz="2800" kern="1200">
                <a:solidFill>
                  <a:srgbClr val="002060"/>
                </a:solidFill>
                <a:latin typeface="+mn-lt"/>
                <a:ea typeface="+mn-ea"/>
                <a:cs typeface="+mn-cs"/>
              </a:rPr>
              <a:t>   If </a:t>
            </a:r>
            <a:r>
              <a:rPr kumimoji="0" lang="en-US" sz="2800" kern="1200" dirty="0">
                <a:solidFill>
                  <a:srgbClr val="002060"/>
                </a:solidFill>
                <a:latin typeface="+mn-lt"/>
                <a:ea typeface="+mn-ea"/>
                <a:cs typeface="+mn-cs"/>
              </a:rPr>
              <a:t>being one step removed from money liberates people from their moral shackles, what will happen as more and more banking is done online? What will happen to our personal and social morality as financial products become more obscure and less recognizably related to money </a:t>
            </a:r>
            <a:r>
              <a:rPr kumimoji="0" lang="en-US" sz="2800" kern="1200">
                <a:solidFill>
                  <a:srgbClr val="002060"/>
                </a:solidFill>
                <a:latin typeface="+mn-lt"/>
                <a:ea typeface="+mn-ea"/>
                <a:cs typeface="+mn-cs"/>
              </a:rPr>
              <a:t>(think stock options, derivatives, and credit </a:t>
            </a:r>
            <a:r>
              <a:rPr kumimoji="0" lang="en-US" sz="2800" kern="1200" dirty="0">
                <a:solidFill>
                  <a:srgbClr val="002060"/>
                </a:solidFill>
                <a:latin typeface="+mn-lt"/>
                <a:ea typeface="+mn-ea"/>
                <a:cs typeface="+mn-cs"/>
              </a:rPr>
              <a:t>default </a:t>
            </a:r>
            <a:r>
              <a:rPr kumimoji="0" lang="en-US" sz="2800" kern="1200">
                <a:solidFill>
                  <a:srgbClr val="002060"/>
                </a:solidFill>
                <a:latin typeface="+mn-lt"/>
                <a:ea typeface="+mn-ea"/>
                <a:cs typeface="+mn-cs"/>
              </a:rPr>
              <a:t>swaps).</a:t>
            </a:r>
            <a:endParaRPr kumimoji="0" lang="en-US" sz="2800" kern="1200" dirty="0">
              <a:solidFill>
                <a:srgbClr val="002060"/>
              </a:solidFill>
              <a:latin typeface="+mn-lt"/>
              <a:ea typeface="+mn-ea"/>
              <a:cs typeface="+mn-cs"/>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0" y="0"/>
            <a:ext cx="8229600" cy="4325112"/>
          </a:xfrm>
        </p:spPr>
        <p:txBody>
          <a:bodyPr>
            <a:noAutofit/>
          </a:bodyPr>
          <a:lstStyle/>
          <a:p>
            <a:pPr>
              <a:buNone/>
            </a:pPr>
            <a:endParaRPr lang="en-US" sz="1600">
              <a:solidFill>
                <a:srgbClr val="002060"/>
              </a:solidFill>
            </a:endParaRPr>
          </a:p>
          <a:p>
            <a:pPr>
              <a:buNone/>
            </a:pPr>
            <a:endParaRPr lang="en-US" sz="1600">
              <a:solidFill>
                <a:srgbClr val="002060"/>
              </a:solidFill>
            </a:endParaRPr>
          </a:p>
          <a:p>
            <a:pPr>
              <a:buNone/>
            </a:pPr>
            <a:r>
              <a:rPr lang="en-US" sz="2400">
                <a:solidFill>
                  <a:srgbClr val="002060"/>
                </a:solidFill>
              </a:rPr>
              <a:t>Conflicts of Interest and Honesty Erosion </a:t>
            </a:r>
            <a:br>
              <a:rPr lang="en-US" sz="1600">
                <a:solidFill>
                  <a:srgbClr val="002060"/>
                </a:solidFill>
              </a:rPr>
            </a:br>
            <a:br>
              <a:rPr lang="en-US" sz="1600">
                <a:solidFill>
                  <a:srgbClr val="002060"/>
                </a:solidFill>
              </a:rPr>
            </a:br>
            <a:br>
              <a:rPr lang="en-US" sz="2000">
                <a:solidFill>
                  <a:srgbClr val="002060"/>
                </a:solidFill>
              </a:rPr>
            </a:br>
            <a:r>
              <a:rPr lang="en-US" sz="2000">
                <a:solidFill>
                  <a:srgbClr val="002060"/>
                </a:solidFill>
              </a:rPr>
              <a:t>Rationalizing of dishonest behavior increases when two interests are pitted against one another. </a:t>
            </a:r>
          </a:p>
          <a:p>
            <a:pPr>
              <a:buNone/>
            </a:pPr>
            <a:endParaRPr lang="en-US" sz="2000">
              <a:solidFill>
                <a:srgbClr val="002060"/>
              </a:solidFill>
            </a:endParaRPr>
          </a:p>
          <a:p>
            <a:pPr>
              <a:buNone/>
            </a:pPr>
            <a:r>
              <a:rPr lang="en-US" sz="2000">
                <a:solidFill>
                  <a:srgbClr val="002060"/>
                </a:solidFill>
              </a:rPr>
              <a:t>     Politicians: lobbyists vs. constituents </a:t>
            </a:r>
          </a:p>
          <a:p>
            <a:pPr>
              <a:buNone/>
            </a:pPr>
            <a:r>
              <a:rPr lang="en-US" sz="2000">
                <a:solidFill>
                  <a:srgbClr val="002060"/>
                </a:solidFill>
              </a:rPr>
              <a:t>     Doctors: pharmaceutical representatives vs. patients on the other; to </a:t>
            </a:r>
          </a:p>
          <a:p>
            <a:pPr>
              <a:buNone/>
            </a:pPr>
            <a:r>
              <a:rPr lang="en-US" sz="2000">
                <a:solidFill>
                  <a:srgbClr val="002060"/>
                </a:solidFill>
              </a:rPr>
              <a:t>	Professors: research vs. teaching </a:t>
            </a:r>
            <a:endParaRPr lang="en-US" sz="1600">
              <a:solidFill>
                <a:srgbClr val="002060"/>
              </a:solidFill>
            </a:endParaRPr>
          </a:p>
          <a:p>
            <a:endParaRPr 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447800"/>
            <a:ext cx="5943600" cy="4953000"/>
          </a:xfrm>
        </p:spPr>
        <p:txBody>
          <a:bodyPr>
            <a:noAutofit/>
          </a:bodyPr>
          <a:lstStyle/>
          <a:p>
            <a:pPr fontAlgn="base"/>
            <a:r>
              <a:rPr kumimoji="0" lang="en-US" sz="2000" kern="1200">
                <a:solidFill>
                  <a:srgbClr val="002060"/>
                </a:solidFill>
                <a:latin typeface="+mj-lt"/>
                <a:ea typeface="+mj-ea"/>
                <a:cs typeface="+mj-cs"/>
              </a:rPr>
              <a:t>What </a:t>
            </a:r>
            <a:r>
              <a:rPr kumimoji="0" lang="en-US" sz="2000" kern="1200" dirty="0">
                <a:solidFill>
                  <a:srgbClr val="002060"/>
                </a:solidFill>
                <a:latin typeface="+mj-lt"/>
                <a:ea typeface="+mj-ea"/>
                <a:cs typeface="+mj-cs"/>
              </a:rPr>
              <a:t>effect do conflicts of </a:t>
            </a:r>
            <a:r>
              <a:rPr kumimoji="0" lang="en-US" sz="2000" kern="1200">
                <a:solidFill>
                  <a:srgbClr val="002060"/>
                </a:solidFill>
                <a:latin typeface="+mj-lt"/>
                <a:ea typeface="+mj-ea"/>
                <a:cs typeface="+mj-cs"/>
              </a:rPr>
              <a:t>interest have </a:t>
            </a:r>
            <a:r>
              <a:rPr kumimoji="0" lang="en-US" sz="2000" kern="1200" dirty="0">
                <a:solidFill>
                  <a:srgbClr val="002060"/>
                </a:solidFill>
                <a:latin typeface="+mj-lt"/>
                <a:ea typeface="+mj-ea"/>
                <a:cs typeface="+mj-cs"/>
              </a:rPr>
              <a:t>on our honesty</a:t>
            </a:r>
            <a:r>
              <a:rPr kumimoji="0" lang="en-US" sz="2000" kern="1200">
                <a:solidFill>
                  <a:srgbClr val="002060"/>
                </a:solidFill>
                <a:latin typeface="+mj-lt"/>
                <a:ea typeface="+mj-ea"/>
                <a:cs typeface="+mj-cs"/>
              </a:rPr>
              <a:t>? We get a cameo by one of our own</a:t>
            </a:r>
            <a:br>
              <a:rPr kumimoji="0" lang="en-US" sz="2000" kern="1200">
                <a:solidFill>
                  <a:srgbClr val="002060"/>
                </a:solidFill>
                <a:latin typeface="+mj-lt"/>
                <a:ea typeface="+mj-ea"/>
                <a:cs typeface="+mj-cs"/>
              </a:rPr>
            </a:br>
            <a:br>
              <a:rPr lang="en-US" sz="2000">
                <a:solidFill>
                  <a:srgbClr val="002060"/>
                </a:solidFill>
              </a:rPr>
            </a:br>
            <a:r>
              <a:rPr lang="en-US" sz="1800">
                <a:solidFill>
                  <a:srgbClr val="002060"/>
                </a:solidFill>
              </a:rPr>
              <a:t> “Keeping the illusion of control under control: Ceilings, floors, and imperfect calibration,” with F. Gino and Z. Sharek.  Organizational Behavior and Human Decision Processes 114 (2011): 104-114.</a:t>
            </a:r>
            <a:br>
              <a:rPr lang="en-US" sz="1800">
                <a:solidFill>
                  <a:srgbClr val="002060"/>
                </a:solidFill>
              </a:rPr>
            </a:br>
            <a:r>
              <a:rPr lang="en-US" sz="1800">
                <a:solidFill>
                  <a:srgbClr val="002060"/>
                </a:solidFill>
              </a:rPr>
              <a:t>“Competing to be certain (but wrong): Market dynamics and excessive confidence in judgment” with J. R. Radzevick.  Management Science 57 (2011): 93-106.</a:t>
            </a:r>
            <a:br>
              <a:rPr lang="en-US" sz="1800">
                <a:solidFill>
                  <a:srgbClr val="002060"/>
                </a:solidFill>
              </a:rPr>
            </a:br>
            <a:r>
              <a:rPr lang="en-US" sz="1800">
                <a:solidFill>
                  <a:srgbClr val="002060"/>
                </a:solidFill>
              </a:rPr>
              <a:t>"When Sunlight Fails to Disinfect: Understanding the Perverse Effects of Disclosing Conflicts of Interest," with D. M. Cain and G. Loewenstein. Journal of Consumer Research 37, no. 5 (2010): 836-857. </a:t>
            </a:r>
            <a:br>
              <a:rPr lang="en-US" sz="1800">
                <a:solidFill>
                  <a:srgbClr val="002060"/>
                </a:solidFill>
              </a:rPr>
            </a:br>
            <a:r>
              <a:rPr lang="en-US" sz="1800">
                <a:solidFill>
                  <a:srgbClr val="002060"/>
                </a:solidFill>
              </a:rPr>
              <a:t>"The Trouble with Overconfidence," with P. J. Healy. Psychological Review 115, no. 2 (2008): 502-517.</a:t>
            </a:r>
            <a:br>
              <a:rPr lang="en-US" sz="1800">
                <a:solidFill>
                  <a:srgbClr val="002060"/>
                </a:solidFill>
              </a:rPr>
            </a:br>
            <a:r>
              <a:rPr lang="en-US" sz="1800">
                <a:solidFill>
                  <a:srgbClr val="002060"/>
                </a:solidFill>
              </a:rPr>
              <a:t>"Correspondence Bias in Performance Evaluation: Why Grade Inflation Works," with S. A. Swift, Z. S. Sharek, and F. Gino. Personality and Social Psychology Bulletin 36, no. 6 (2010), 843-852.</a:t>
            </a:r>
            <a:br>
              <a:rPr lang="en-US" sz="1800"/>
            </a:br>
            <a:br>
              <a:rPr kumimoji="0" lang="en-US" sz="1800" kern="1200">
                <a:solidFill>
                  <a:srgbClr val="002060"/>
                </a:solidFill>
                <a:latin typeface="+mj-lt"/>
                <a:ea typeface="+mj-ea"/>
                <a:cs typeface="+mj-cs"/>
              </a:rPr>
            </a:br>
            <a:br>
              <a:rPr lang="en-US" sz="1800">
                <a:solidFill>
                  <a:srgbClr val="002060"/>
                </a:solidFill>
              </a:rPr>
            </a:br>
            <a:br>
              <a:rPr lang="en-US" sz="1800">
                <a:solidFill>
                  <a:srgbClr val="002060"/>
                </a:solidFill>
              </a:rPr>
            </a:br>
            <a:endParaRPr kumimoji="0" lang="en-US" sz="1800" kern="1200" dirty="0">
              <a:solidFill>
                <a:srgbClr val="002060"/>
              </a:solidFill>
              <a:latin typeface="+mj-lt"/>
              <a:ea typeface="+mj-ea"/>
              <a:cs typeface="+mj-cs"/>
            </a:endParaRPr>
          </a:p>
        </p:txBody>
      </p:sp>
      <p:pic>
        <p:nvPicPr>
          <p:cNvPr id="26626" name="Picture 2" descr="Don Moore"/>
          <p:cNvPicPr>
            <a:picLocks noChangeAspect="1" noChangeArrowheads="1"/>
          </p:cNvPicPr>
          <p:nvPr/>
        </p:nvPicPr>
        <p:blipFill>
          <a:blip r:embed="rId2" cstate="print"/>
          <a:srcRect/>
          <a:stretch>
            <a:fillRect/>
          </a:stretch>
        </p:blipFill>
        <p:spPr bwMode="auto">
          <a:xfrm>
            <a:off x="6248400" y="228600"/>
            <a:ext cx="1447800" cy="2147161"/>
          </a:xfrm>
          <a:prstGeom prst="rect">
            <a:avLst/>
          </a:prstGeom>
          <a:noFill/>
        </p:spPr>
      </p:pic>
      <p:sp>
        <p:nvSpPr>
          <p:cNvPr id="5" name="TextBox 4"/>
          <p:cNvSpPr txBox="1"/>
          <p:nvPr/>
        </p:nvSpPr>
        <p:spPr>
          <a:xfrm>
            <a:off x="6400800" y="2514600"/>
            <a:ext cx="2743200" cy="276999"/>
          </a:xfrm>
          <a:prstGeom prst="rect">
            <a:avLst/>
          </a:prstGeom>
          <a:noFill/>
        </p:spPr>
        <p:txBody>
          <a:bodyPr wrap="square" rtlCol="0">
            <a:spAutoFit/>
          </a:bodyPr>
          <a:lstStyle/>
          <a:p>
            <a:r>
              <a:rPr lang="en-US" sz="1200">
                <a:solidFill>
                  <a:srgbClr val="002060"/>
                </a:solidFill>
              </a:rPr>
              <a:t>Don Moore,  Haas School of Business</a:t>
            </a:r>
            <a:endParaRPr 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019800" cy="3352800"/>
          </a:xfrm>
        </p:spPr>
        <p:txBody>
          <a:bodyPr>
            <a:noAutofit/>
          </a:bodyPr>
          <a:lstStyle/>
          <a:p>
            <a:pPr fontAlgn="base"/>
            <a:br>
              <a:rPr kumimoji="0" lang="en-US" sz="1600" kern="1200">
                <a:solidFill>
                  <a:srgbClr val="002060"/>
                </a:solidFill>
                <a:latin typeface="+mj-lt"/>
                <a:ea typeface="+mj-ea"/>
                <a:cs typeface="+mj-cs"/>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br>
              <a:rPr lang="en-US" sz="1600">
                <a:solidFill>
                  <a:srgbClr val="002060"/>
                </a:solidFill>
              </a:rPr>
            </a:br>
            <a:r>
              <a:rPr lang="en-US" sz="2800">
                <a:solidFill>
                  <a:srgbClr val="002060"/>
                </a:solidFill>
              </a:rPr>
              <a:t>The Jar of MoneyTest </a:t>
            </a:r>
            <a:br>
              <a:rPr lang="en-US" sz="1800">
                <a:solidFill>
                  <a:srgbClr val="002060"/>
                </a:solidFill>
              </a:rPr>
            </a:br>
            <a:br>
              <a:rPr lang="en-US" sz="1800">
                <a:solidFill>
                  <a:srgbClr val="002060"/>
                </a:solidFill>
              </a:rPr>
            </a:br>
            <a:r>
              <a:rPr lang="en-US" sz="1800">
                <a:solidFill>
                  <a:srgbClr val="002060"/>
                </a:solidFill>
              </a:rPr>
              <a:t>The experimenters paired their subjects into teams of two and asked one of the subjects to estimate the amount of money contained in a large jar (the estimator) and the other subject to advise their partner (the advisor). Sort of like you know, a hedgefund maybe…</a:t>
            </a:r>
            <a:br>
              <a:rPr lang="en-US" sz="1800">
                <a:solidFill>
                  <a:srgbClr val="002060"/>
                </a:solidFill>
              </a:rPr>
            </a:br>
            <a:br>
              <a:rPr lang="en-US" sz="1800">
                <a:solidFill>
                  <a:srgbClr val="002060"/>
                </a:solidFill>
              </a:rPr>
            </a:br>
            <a:r>
              <a:rPr lang="en-US" sz="1800">
                <a:solidFill>
                  <a:srgbClr val="002060"/>
                </a:solidFill>
              </a:rPr>
              <a:t>The estimator was given little information about how much money might be in the jar, while the adviser was given a general range (e.g. $15-$30) and was given time to inspect the jar.</a:t>
            </a:r>
            <a:br>
              <a:rPr lang="en-US" sz="1800">
                <a:solidFill>
                  <a:srgbClr val="002060"/>
                </a:solidFill>
              </a:rPr>
            </a:br>
            <a:br>
              <a:rPr lang="en-US" sz="1800">
                <a:solidFill>
                  <a:srgbClr val="002060"/>
                </a:solidFill>
              </a:rPr>
            </a:br>
            <a:r>
              <a:rPr lang="en-US" sz="1800">
                <a:solidFill>
                  <a:srgbClr val="002060"/>
                </a:solidFill>
              </a:rPr>
              <a:t> In the control condition, both the estimator and the adviser were rewarded according to how accurately the estimator guessed the amount of money in the jar. In the experimental condition, the more the estimator over guessed the correct amount, the more the advisor made.  In the control condition, the advisers suggested an average of $16.50, while in the conflict-of-interest condition, the advisers suggested an estimate that was over $20. </a:t>
            </a:r>
            <a:br>
              <a:rPr lang="en-US" sz="1600">
                <a:solidFill>
                  <a:srgbClr val="002060"/>
                </a:solidFill>
              </a:rPr>
            </a:br>
            <a:br>
              <a:rPr lang="en-US" sz="1600">
                <a:solidFill>
                  <a:srgbClr val="002060"/>
                </a:solidFill>
              </a:rPr>
            </a:br>
            <a:endParaRPr kumimoji="0" lang="en-US" sz="1600" kern="1200" dirty="0">
              <a:solidFill>
                <a:srgbClr val="002060"/>
              </a:solidFill>
              <a:latin typeface="+mj-lt"/>
              <a:ea typeface="+mj-ea"/>
              <a:cs typeface="+mj-cs"/>
            </a:endParaRPr>
          </a:p>
        </p:txBody>
      </p:sp>
      <p:pic>
        <p:nvPicPr>
          <p:cNvPr id="25604" name="Picture 4" descr="https://encrypted-tbn0.gstatic.com/images?q=tbn:ANd9GcQCxwuSvIfdQaNHW8JK11Pvnkwp2D5DntPOs712Bl7oL9zg05Ibxg"/>
          <p:cNvPicPr>
            <a:picLocks noChangeAspect="1" noChangeArrowheads="1"/>
          </p:cNvPicPr>
          <p:nvPr/>
        </p:nvPicPr>
        <p:blipFill>
          <a:blip r:embed="rId2" cstate="print"/>
          <a:srcRect/>
          <a:stretch>
            <a:fillRect/>
          </a:stretch>
        </p:blipFill>
        <p:spPr bwMode="auto">
          <a:xfrm>
            <a:off x="6705600" y="762000"/>
            <a:ext cx="1743075" cy="2619375"/>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066800"/>
          </a:xfrm>
        </p:spPr>
        <p:txBody>
          <a:bodyPr>
            <a:normAutofit fontScale="90000"/>
          </a:bodyPr>
          <a:lstStyle/>
          <a:p>
            <a:r>
              <a:rPr lang="en-US">
                <a:solidFill>
                  <a:srgbClr val="002060"/>
                </a:solidFill>
              </a:rPr>
              <a:t>Contemporary Art and the Cheating Brain</a:t>
            </a:r>
          </a:p>
        </p:txBody>
      </p:sp>
      <p:sp>
        <p:nvSpPr>
          <p:cNvPr id="3" name="Content Placeholder 2"/>
          <p:cNvSpPr>
            <a:spLocks noGrp="1"/>
          </p:cNvSpPr>
          <p:nvPr>
            <p:ph idx="1"/>
          </p:nvPr>
        </p:nvSpPr>
        <p:spPr>
          <a:xfrm>
            <a:off x="152400" y="1143000"/>
            <a:ext cx="8229600" cy="4325112"/>
          </a:xfrm>
        </p:spPr>
        <p:txBody>
          <a:bodyPr>
            <a:normAutofit fontScale="85000" lnSpcReduction="10000"/>
          </a:bodyPr>
          <a:lstStyle/>
          <a:p>
            <a:pPr>
              <a:buNone/>
            </a:pPr>
            <a:r>
              <a:rPr lang="en-US">
                <a:solidFill>
                  <a:srgbClr val="002060"/>
                </a:solidFill>
              </a:rPr>
              <a:t>    In this experiment, subjects evaluated 60 paintings from 2 art galleries: Third Moon and Lone Wolfe. Half of the subjects were told that their involvement in the experiment had been generously paid for by Third Moon while the other half were told that their involvement had been paid for by Lone Wolf. </a:t>
            </a:r>
          </a:p>
          <a:p>
            <a:pPr>
              <a:buNone/>
            </a:pPr>
            <a:endParaRPr lang="en-US">
              <a:solidFill>
                <a:srgbClr val="002060"/>
              </a:solidFill>
            </a:endParaRPr>
          </a:p>
          <a:p>
            <a:pPr>
              <a:buNone/>
            </a:pPr>
            <a:r>
              <a:rPr lang="en-US">
                <a:solidFill>
                  <a:srgbClr val="002060"/>
                </a:solidFill>
              </a:rPr>
              <a:t>    When the subjects were presented with the paintings, each piece contained a symbol in the top left-hand corner indicating from which gallery the piece had come. </a:t>
            </a:r>
          </a:p>
          <a:p>
            <a:pPr>
              <a:buNone/>
            </a:pPr>
            <a:endParaRPr lang="en-US">
              <a:solidFill>
                <a:srgbClr val="002060"/>
              </a:solidFill>
            </a:endParaRPr>
          </a:p>
          <a:p>
            <a:pPr>
              <a:buNone/>
            </a:pPr>
            <a:r>
              <a:rPr lang="en-US">
                <a:solidFill>
                  <a:srgbClr val="002060"/>
                </a:solidFill>
              </a:rPr>
              <a:t>	Result: Participants gave more favourable ratings to the paintings that came from their sponsoring gallery. </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8229600" cy="4325112"/>
          </a:xfrm>
        </p:spPr>
        <p:txBody>
          <a:bodyPr>
            <a:normAutofit fontScale="92500"/>
          </a:bodyPr>
          <a:lstStyle/>
          <a:p>
            <a:pPr>
              <a:buNone/>
            </a:pPr>
            <a:r>
              <a:rPr lang="en-US">
                <a:solidFill>
                  <a:srgbClr val="002060"/>
                </a:solidFill>
              </a:rPr>
              <a:t>   During the experiment the subjects were placed inside a  brain scanner while they were making their evaluations, which revealed that the part of the brain related to pleasure lit up more when the subjects viewed pieces containing the logo of their sponsor gallery. </a:t>
            </a:r>
          </a:p>
          <a:p>
            <a:pPr>
              <a:buNone/>
            </a:pPr>
            <a:endParaRPr lang="en-US">
              <a:solidFill>
                <a:srgbClr val="002060"/>
              </a:solidFill>
            </a:endParaRPr>
          </a:p>
          <a:p>
            <a:pPr>
              <a:buNone/>
            </a:pPr>
            <a:r>
              <a:rPr lang="en-US">
                <a:solidFill>
                  <a:srgbClr val="002060"/>
                </a:solidFill>
              </a:rPr>
              <a:t>    Suggesting that favoritism was happening at an unconscious level; when subjects were asked if they thought that the sponsor’s logo had any effect on their art preferences, they all answered: No. </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486400"/>
          </a:xfrm>
        </p:spPr>
        <p:txBody>
          <a:bodyPr>
            <a:noAutofit/>
          </a:bodyPr>
          <a:lstStyle/>
          <a:p>
            <a:pPr fontAlgn="base"/>
            <a:r>
              <a:rPr kumimoji="0" lang="en-US" sz="2000" b="1" kern="1200">
                <a:solidFill>
                  <a:srgbClr val="002060"/>
                </a:solidFill>
                <a:latin typeface="+mj-lt"/>
                <a:ea typeface="+mj-ea"/>
                <a:cs typeface="+mj-cs"/>
              </a:rPr>
              <a:t>Cheater’s Revenge</a:t>
            </a:r>
            <a:r>
              <a:rPr lang="en-US" sz="2000" b="1">
                <a:solidFill>
                  <a:srgbClr val="002060"/>
                </a:solidFill>
              </a:rPr>
              <a:t>: People Cheat More When They Think They’ve Been Wronged</a:t>
            </a:r>
            <a:r>
              <a:rPr kumimoji="0" lang="en-US" sz="1800" kern="1200">
                <a:solidFill>
                  <a:srgbClr val="002060"/>
                </a:solidFill>
                <a:latin typeface="+mj-lt"/>
                <a:ea typeface="+mj-ea"/>
                <a:cs typeface="+mj-cs"/>
              </a:rPr>
              <a:t> </a:t>
            </a:r>
            <a:br>
              <a:rPr kumimoji="0" lang="en-US" sz="1800" kern="1200">
                <a:solidFill>
                  <a:srgbClr val="002060"/>
                </a:solidFill>
                <a:latin typeface="+mj-lt"/>
                <a:ea typeface="+mj-ea"/>
                <a:cs typeface="+mj-cs"/>
              </a:rPr>
            </a:br>
            <a:br>
              <a:rPr kumimoji="0" lang="en-US" sz="1800" kern="1200">
                <a:solidFill>
                  <a:srgbClr val="002060"/>
                </a:solidFill>
                <a:latin typeface="+mj-lt"/>
                <a:ea typeface="+mj-ea"/>
                <a:cs typeface="+mj-cs"/>
              </a:rPr>
            </a:br>
            <a:r>
              <a:rPr lang="en-US" sz="1800">
                <a:solidFill>
                  <a:srgbClr val="002060"/>
                </a:solidFill>
              </a:rPr>
              <a:t>Control Group: </a:t>
            </a:r>
            <a:r>
              <a:rPr kumimoji="0" lang="en-US" sz="1800" kern="1200">
                <a:solidFill>
                  <a:srgbClr val="002060"/>
                </a:solidFill>
                <a:latin typeface="+mj-lt"/>
                <a:ea typeface="+mj-ea"/>
                <a:cs typeface="+mj-cs"/>
              </a:rPr>
              <a:t>An actor approaches </a:t>
            </a:r>
            <a:r>
              <a:rPr kumimoji="0" lang="en-US" sz="1800" kern="1200" dirty="0">
                <a:solidFill>
                  <a:srgbClr val="002060"/>
                </a:solidFill>
                <a:latin typeface="+mj-lt"/>
                <a:ea typeface="+mj-ea"/>
                <a:cs typeface="+mj-cs"/>
              </a:rPr>
              <a:t>patrons in a coffee shop </a:t>
            </a:r>
            <a:r>
              <a:rPr kumimoji="0" lang="en-US" sz="1800" kern="1200">
                <a:solidFill>
                  <a:srgbClr val="002060"/>
                </a:solidFill>
                <a:latin typeface="+mj-lt"/>
                <a:ea typeface="+mj-ea"/>
                <a:cs typeface="+mj-cs"/>
              </a:rPr>
              <a:t>and asks </a:t>
            </a:r>
            <a:r>
              <a:rPr kumimoji="0" lang="en-US" sz="1800" kern="1200" dirty="0">
                <a:solidFill>
                  <a:srgbClr val="002060"/>
                </a:solidFill>
                <a:latin typeface="+mj-lt"/>
                <a:ea typeface="+mj-ea"/>
                <a:cs typeface="+mj-cs"/>
              </a:rPr>
              <a:t>them to perform a quick 5 minute test in return for $5 (the test involved picking out identical, adjacent letters from a package of 10 pages full of </a:t>
            </a:r>
            <a:r>
              <a:rPr kumimoji="0" lang="en-US" sz="1800" kern="1200">
                <a:solidFill>
                  <a:srgbClr val="002060"/>
                </a:solidFill>
                <a:latin typeface="+mj-lt"/>
                <a:ea typeface="+mj-ea"/>
                <a:cs typeface="+mj-cs"/>
              </a:rPr>
              <a:t>random letters). At </a:t>
            </a:r>
            <a:r>
              <a:rPr kumimoji="0" lang="en-US" sz="1800" kern="1200" dirty="0">
                <a:solidFill>
                  <a:srgbClr val="002060"/>
                </a:solidFill>
                <a:latin typeface="+mj-lt"/>
                <a:ea typeface="+mj-ea"/>
                <a:cs typeface="+mj-cs"/>
              </a:rPr>
              <a:t>the end of the test</a:t>
            </a:r>
            <a:r>
              <a:rPr kumimoji="0" lang="en-US" sz="1800" kern="1200">
                <a:solidFill>
                  <a:srgbClr val="002060"/>
                </a:solidFill>
                <a:latin typeface="+mj-lt"/>
                <a:ea typeface="+mj-ea"/>
                <a:cs typeface="+mj-cs"/>
              </a:rPr>
              <a:t>, the actor handed </a:t>
            </a:r>
            <a:r>
              <a:rPr kumimoji="0" lang="en-US" sz="1800" kern="1200" dirty="0">
                <a:solidFill>
                  <a:srgbClr val="002060"/>
                </a:solidFill>
                <a:latin typeface="+mj-lt"/>
                <a:ea typeface="+mj-ea"/>
                <a:cs typeface="+mj-cs"/>
              </a:rPr>
              <a:t>the subject a stack of bills and a receipt and asked them to count </a:t>
            </a:r>
            <a:r>
              <a:rPr kumimoji="0" lang="en-US" sz="1800" kern="1200">
                <a:solidFill>
                  <a:srgbClr val="002060"/>
                </a:solidFill>
                <a:latin typeface="+mj-lt"/>
                <a:ea typeface="+mj-ea"/>
                <a:cs typeface="+mj-cs"/>
              </a:rPr>
              <a:t>the money, sign the receipt,  </a:t>
            </a:r>
            <a:r>
              <a:rPr kumimoji="0" lang="en-US" sz="1800" kern="1200" dirty="0">
                <a:solidFill>
                  <a:srgbClr val="002060"/>
                </a:solidFill>
                <a:latin typeface="+mj-lt"/>
                <a:ea typeface="+mj-ea"/>
                <a:cs typeface="+mj-cs"/>
              </a:rPr>
              <a:t>and leave it on the table</a:t>
            </a:r>
            <a:r>
              <a:rPr kumimoji="0" lang="en-US" sz="1800" kern="1200">
                <a:solidFill>
                  <a:srgbClr val="002060"/>
                </a:solidFill>
                <a:latin typeface="+mj-lt"/>
                <a:ea typeface="+mj-ea"/>
                <a:cs typeface="+mj-cs"/>
              </a:rPr>
              <a:t>. Meanwhile</a:t>
            </a:r>
            <a:r>
              <a:rPr kumimoji="0" lang="en-US" sz="1800" kern="1200" dirty="0">
                <a:solidFill>
                  <a:srgbClr val="002060"/>
                </a:solidFill>
                <a:latin typeface="+mj-lt"/>
                <a:ea typeface="+mj-ea"/>
                <a:cs typeface="+mj-cs"/>
              </a:rPr>
              <a:t>, Daniel went off to find another subject. Here’s the thing, though: the stack of bills contained $9, as opposed to the $5 </a:t>
            </a:r>
            <a:r>
              <a:rPr kumimoji="0" lang="en-US" sz="1800" kern="1200">
                <a:solidFill>
                  <a:srgbClr val="002060"/>
                </a:solidFill>
                <a:latin typeface="+mj-lt"/>
                <a:ea typeface="+mj-ea"/>
                <a:cs typeface="+mj-cs"/>
              </a:rPr>
              <a:t>originally promised.</a:t>
            </a:r>
            <a:br>
              <a:rPr kumimoji="0" lang="en-US" sz="1800" kern="1200">
                <a:solidFill>
                  <a:srgbClr val="002060"/>
                </a:solidFill>
                <a:latin typeface="+mj-lt"/>
                <a:ea typeface="+mj-ea"/>
                <a:cs typeface="+mj-cs"/>
              </a:rPr>
            </a:br>
            <a:endParaRPr kumimoji="0" lang="en-US" sz="1800" kern="1200" dirty="0">
              <a:solidFill>
                <a:srgbClr val="002060"/>
              </a:solidFill>
              <a:latin typeface="+mj-lt"/>
              <a:ea typeface="+mj-ea"/>
              <a:cs typeface="+mj-cs"/>
            </a:endParaRPr>
          </a:p>
          <a:p>
            <a:r>
              <a:rPr lang="en-US" sz="1800">
                <a:solidFill>
                  <a:srgbClr val="002060"/>
                </a:solidFill>
              </a:rPr>
              <a:t>E</a:t>
            </a:r>
            <a:r>
              <a:rPr kumimoji="0" lang="en-US" sz="1800" kern="1200">
                <a:solidFill>
                  <a:srgbClr val="002060"/>
                </a:solidFill>
                <a:latin typeface="+mj-lt"/>
                <a:ea typeface="+mj-ea"/>
                <a:cs typeface="+mj-cs"/>
              </a:rPr>
              <a:t>xperimental group: </a:t>
            </a:r>
            <a:r>
              <a:rPr kumimoji="0" lang="en-US" sz="1800" kern="1200" dirty="0">
                <a:solidFill>
                  <a:srgbClr val="002060"/>
                </a:solidFill>
                <a:latin typeface="+mj-lt"/>
                <a:ea typeface="+mj-ea"/>
                <a:cs typeface="+mj-cs"/>
              </a:rPr>
              <a:t>In this case, </a:t>
            </a:r>
            <a:r>
              <a:rPr kumimoji="0" lang="en-US" sz="1800" kern="1200">
                <a:solidFill>
                  <a:srgbClr val="002060"/>
                </a:solidFill>
                <a:latin typeface="+mj-lt"/>
                <a:ea typeface="+mj-ea"/>
                <a:cs typeface="+mj-cs"/>
              </a:rPr>
              <a:t>when the actor was </a:t>
            </a:r>
            <a:r>
              <a:rPr kumimoji="0" lang="en-US" sz="1800" kern="1200" dirty="0">
                <a:solidFill>
                  <a:srgbClr val="002060"/>
                </a:solidFill>
                <a:latin typeface="+mj-lt"/>
                <a:ea typeface="+mj-ea"/>
                <a:cs typeface="+mj-cs"/>
              </a:rPr>
              <a:t>explaining the procedure to the subject, he was interrupted by his cell phone, took the call, </a:t>
            </a:r>
            <a:r>
              <a:rPr kumimoji="0" lang="en-US" sz="1800" kern="1200">
                <a:solidFill>
                  <a:srgbClr val="002060"/>
                </a:solidFill>
                <a:latin typeface="+mj-lt"/>
                <a:ea typeface="+mj-ea"/>
                <a:cs typeface="+mj-cs"/>
              </a:rPr>
              <a:t>and </a:t>
            </a:r>
            <a:r>
              <a:rPr lang="en-US" sz="1800">
                <a:solidFill>
                  <a:srgbClr val="002060"/>
                </a:solidFill>
              </a:rPr>
              <a:t>had a conversation about a date in the evening. </a:t>
            </a:r>
            <a:r>
              <a:rPr kumimoji="0" lang="en-US" sz="1800" kern="1200">
                <a:solidFill>
                  <a:srgbClr val="002060"/>
                </a:solidFill>
                <a:latin typeface="+mj-lt"/>
                <a:ea typeface="+mj-ea"/>
                <a:cs typeface="+mj-cs"/>
              </a:rPr>
              <a:t>The </a:t>
            </a:r>
            <a:r>
              <a:rPr kumimoji="0" lang="en-US" sz="1800" kern="1200" dirty="0">
                <a:solidFill>
                  <a:srgbClr val="002060"/>
                </a:solidFill>
                <a:latin typeface="+mj-lt"/>
                <a:ea typeface="+mj-ea"/>
                <a:cs typeface="+mj-cs"/>
              </a:rPr>
              <a:t>whole fake conversation took about twelve seconds. </a:t>
            </a:r>
            <a:r>
              <a:rPr kumimoji="0" lang="en-US" sz="1800" kern="1200">
                <a:solidFill>
                  <a:srgbClr val="002060"/>
                </a:solidFill>
                <a:latin typeface="+mj-lt"/>
                <a:ea typeface="+mj-ea"/>
                <a:cs typeface="+mj-cs"/>
              </a:rPr>
              <a:t>After the actor slipped the phone </a:t>
            </a:r>
            <a:r>
              <a:rPr kumimoji="0" lang="en-US" sz="1800" kern="1200" dirty="0">
                <a:solidFill>
                  <a:srgbClr val="002060"/>
                </a:solidFill>
                <a:latin typeface="+mj-lt"/>
                <a:ea typeface="+mj-ea"/>
                <a:cs typeface="+mj-cs"/>
              </a:rPr>
              <a:t>back into his pocket, he made no reference to the disruption and simply continued describing </a:t>
            </a:r>
            <a:r>
              <a:rPr kumimoji="0" lang="en-US" sz="1800" kern="1200">
                <a:solidFill>
                  <a:srgbClr val="002060"/>
                </a:solidFill>
                <a:latin typeface="+mj-lt"/>
                <a:ea typeface="+mj-ea"/>
                <a:cs typeface="+mj-cs"/>
              </a:rPr>
              <a:t>the task.</a:t>
            </a:r>
            <a:br>
              <a:rPr kumimoji="0" lang="en-US" sz="1800" kern="1200">
                <a:solidFill>
                  <a:srgbClr val="002060"/>
                </a:solidFill>
                <a:latin typeface="+mj-lt"/>
                <a:ea typeface="+mj-ea"/>
                <a:cs typeface="+mj-cs"/>
              </a:rPr>
            </a:br>
            <a:br>
              <a:rPr lang="en-US" sz="1800">
                <a:solidFill>
                  <a:srgbClr val="002060"/>
                </a:solidFill>
              </a:rPr>
            </a:br>
            <a:r>
              <a:rPr lang="en-US" sz="1800">
                <a:solidFill>
                  <a:srgbClr val="002060"/>
                </a:solidFill>
              </a:rPr>
              <a:t>Result: 45 % of the controls returned the extra money, while only 14 % of the exerimentals did so.</a:t>
            </a:r>
            <a:endParaRPr kumimoji="0" lang="en-US" sz="1800" kern="1200" dirty="0">
              <a:solidFill>
                <a:srgbClr val="002060"/>
              </a:solidFill>
              <a:latin typeface="+mj-lt"/>
              <a:ea typeface="+mj-ea"/>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7000"/>
            <a:ext cx="8229600" cy="1066800"/>
          </a:xfrm>
        </p:spPr>
        <p:txBody>
          <a:bodyPr>
            <a:noAutofit/>
          </a:bodyPr>
          <a:lstStyle/>
          <a:p>
            <a:pPr fontAlgn="base"/>
            <a:r>
              <a:rPr kumimoji="0" lang="en-US" sz="2400" kern="1200">
                <a:solidFill>
                  <a:srgbClr val="002060"/>
                </a:solidFill>
                <a:latin typeface="+mj-lt"/>
                <a:ea typeface="+mj-ea"/>
                <a:cs typeface="+mj-cs"/>
              </a:rPr>
              <a:t>Conclusion: It is easier to make a story rationalizing cheating if we tell </a:t>
            </a:r>
            <a:r>
              <a:rPr kumimoji="0" lang="en-US" sz="2400" kern="1200" dirty="0">
                <a:solidFill>
                  <a:srgbClr val="002060"/>
                </a:solidFill>
                <a:latin typeface="+mj-lt"/>
                <a:ea typeface="+mj-ea"/>
                <a:cs typeface="+mj-cs"/>
              </a:rPr>
              <a:t>ourselves that we’re not doing anything wrong, we are only getting even. We might even take this rationalization a step further and tell ourselves that we are simply restoring karma and balance to the world. Good for us, we’re crusading for </a:t>
            </a:r>
            <a:r>
              <a:rPr kumimoji="0" lang="en-US" sz="2400" kern="1200">
                <a:solidFill>
                  <a:srgbClr val="002060"/>
                </a:solidFill>
                <a:latin typeface="+mj-lt"/>
                <a:ea typeface="+mj-ea"/>
                <a:cs typeface="+mj-cs"/>
              </a:rPr>
              <a:t>justice!</a:t>
            </a:r>
            <a:endParaRPr kumimoji="0" lang="en-US" sz="2400" kern="1200" dirty="0">
              <a:solidFill>
                <a:srgbClr val="002060"/>
              </a:solidFill>
              <a:latin typeface="+mj-lt"/>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457200"/>
            <a:ext cx="8229600" cy="1066800"/>
          </a:xfrm>
        </p:spPr>
        <p:txBody>
          <a:bodyPr>
            <a:noAutofit/>
          </a:bodyPr>
          <a:lstStyle/>
          <a:p>
            <a:pPr fontAlgn="base"/>
            <a:r>
              <a:rPr kumimoji="0" lang="en-US" sz="2400" b="1" kern="1200">
                <a:solidFill>
                  <a:srgbClr val="002060"/>
                </a:solidFill>
                <a:latin typeface="+mj-lt"/>
                <a:ea typeface="+mj-ea"/>
                <a:cs typeface="+mj-cs"/>
              </a:rPr>
              <a:t>The Unfortunate Affair  of Dying Grandmothers: Cheating ,Will Power Depletion, and Spending Emotional Capital </a:t>
            </a:r>
            <a:br>
              <a:rPr lang="en-US" sz="1800">
                <a:solidFill>
                  <a:srgbClr val="002060"/>
                </a:solidFill>
              </a:rPr>
            </a:br>
            <a:endParaRPr kumimoji="0" lang="en-US" sz="1800" kern="1200" dirty="0">
              <a:solidFill>
                <a:srgbClr val="002060"/>
              </a:solidFill>
              <a:latin typeface="+mj-lt"/>
              <a:ea typeface="+mj-ea"/>
              <a:cs typeface="+mj-cs"/>
            </a:endParaRPr>
          </a:p>
        </p:txBody>
      </p:sp>
      <p:sp>
        <p:nvSpPr>
          <p:cNvPr id="7" name="Rectangle 6"/>
          <p:cNvSpPr/>
          <p:nvPr/>
        </p:nvSpPr>
        <p:spPr>
          <a:xfrm>
            <a:off x="2286000" y="1600200"/>
            <a:ext cx="4572000" cy="4524315"/>
          </a:xfrm>
          <a:prstGeom prst="rect">
            <a:avLst/>
          </a:prstGeom>
        </p:spPr>
        <p:txBody>
          <a:bodyPr>
            <a:spAutoFit/>
          </a:bodyPr>
          <a:lstStyle/>
          <a:p>
            <a:r>
              <a:rPr lang="en-US">
                <a:solidFill>
                  <a:srgbClr val="002060"/>
                </a:solidFill>
              </a:rPr>
              <a:t>If you've taught, you know that around the end of the semester people's grannies start dropping right and left. Ariely writes that about 10% of his students tell him that recently a relative or close friend has died at the end of semester. Mike Adams (a biology professor at Eastern Connecticut State University) showed that grandmothers are 10 times more likely to die before a midterm and 19 times more likely to die before a final. Moreover, students at risk of failing a class are 50 times more likely to experience tragic death of their beloved grandmother during finals week. From a public health standpoint it is clear that grandmothers should be closely monitored during finals week.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457200"/>
            <a:ext cx="8229600" cy="1676400"/>
          </a:xfrm>
        </p:spPr>
        <p:txBody>
          <a:bodyPr>
            <a:noAutofit/>
          </a:bodyPr>
          <a:lstStyle/>
          <a:p>
            <a:pPr fontAlgn="base"/>
            <a:r>
              <a:rPr kumimoji="0" lang="en-US" sz="1800" b="1" kern="1200">
                <a:solidFill>
                  <a:srgbClr val="002060"/>
                </a:solidFill>
                <a:latin typeface="+mj-lt"/>
                <a:ea typeface="+mj-ea"/>
                <a:cs typeface="+mj-cs"/>
              </a:rPr>
              <a:t>Cheating </a:t>
            </a:r>
            <a:r>
              <a:rPr kumimoji="0" lang="en-US" sz="1800" b="1" kern="1200" dirty="0">
                <a:solidFill>
                  <a:srgbClr val="002060"/>
                </a:solidFill>
                <a:latin typeface="+mj-lt"/>
                <a:ea typeface="+mj-ea"/>
                <a:cs typeface="+mj-cs"/>
              </a:rPr>
              <a:t>and Will </a:t>
            </a:r>
            <a:r>
              <a:rPr kumimoji="0" lang="en-US" sz="1800" b="1" kern="1200">
                <a:solidFill>
                  <a:srgbClr val="002060"/>
                </a:solidFill>
                <a:latin typeface="+mj-lt"/>
                <a:ea typeface="+mj-ea"/>
                <a:cs typeface="+mj-cs"/>
              </a:rPr>
              <a:t>Power Depletion, Spending Emotional Capital </a:t>
            </a:r>
            <a:br>
              <a:rPr kumimoji="0" lang="en-US" sz="1800" b="1" kern="1200">
                <a:solidFill>
                  <a:srgbClr val="002060"/>
                </a:solidFill>
                <a:latin typeface="+mj-lt"/>
                <a:ea typeface="+mj-ea"/>
                <a:cs typeface="+mj-cs"/>
              </a:rPr>
            </a:br>
            <a:endParaRPr kumimoji="0" lang="en-US" sz="1800" kern="1200" dirty="0">
              <a:solidFill>
                <a:srgbClr val="002060"/>
              </a:solidFill>
              <a:latin typeface="+mj-lt"/>
              <a:ea typeface="+mj-ea"/>
              <a:cs typeface="+mj-cs"/>
            </a:endParaRPr>
          </a:p>
          <a:p>
            <a:pPr fontAlgn="base"/>
            <a:r>
              <a:rPr lang="en-US" sz="1800">
                <a:solidFill>
                  <a:srgbClr val="002060"/>
                </a:solidFill>
              </a:rPr>
              <a:t>Each of the decisions we make to avoid temptation takes some degree of effort (like lifting a weight once), and we exhaust our willpower by using it over and over (like lifting a weight over and over). </a:t>
            </a:r>
            <a:br>
              <a:rPr lang="en-US" sz="1800">
                <a:solidFill>
                  <a:srgbClr val="002060"/>
                </a:solidFill>
              </a:rPr>
            </a:br>
            <a:br>
              <a:rPr lang="en-US" sz="1800">
                <a:solidFill>
                  <a:srgbClr val="002060"/>
                </a:solidFill>
              </a:rPr>
            </a:br>
            <a:endParaRPr kumimoji="0" lang="en-US" sz="1800" kern="1200" dirty="0">
              <a:solidFill>
                <a:srgbClr val="002060"/>
              </a:solidFill>
              <a:latin typeface="+mj-lt"/>
              <a:ea typeface="+mj-ea"/>
              <a:cs typeface="+mj-cs"/>
            </a:endParaRPr>
          </a:p>
        </p:txBody>
      </p:sp>
      <p:sp>
        <p:nvSpPr>
          <p:cNvPr id="5" name="TextBox 4"/>
          <p:cNvSpPr txBox="1"/>
          <p:nvPr/>
        </p:nvSpPr>
        <p:spPr>
          <a:xfrm>
            <a:off x="228600" y="1981200"/>
            <a:ext cx="8481354" cy="2585323"/>
          </a:xfrm>
          <a:prstGeom prst="rect">
            <a:avLst/>
          </a:prstGeom>
          <a:noFill/>
        </p:spPr>
        <p:txBody>
          <a:bodyPr wrap="square" rtlCol="0">
            <a:spAutoFit/>
          </a:bodyPr>
          <a:lstStyle/>
          <a:p>
            <a:r>
              <a:rPr lang="en-US">
                <a:solidFill>
                  <a:srgbClr val="002060"/>
                </a:solidFill>
              </a:rPr>
              <a:t>This means that after a long day of saying “no” to various and sundry temptations, our capacity for resisting them diminishes. Also, spending emotional capital and depleting will power can occur for any number of reasons and cognitive tasks. </a:t>
            </a:r>
          </a:p>
          <a:p>
            <a:endParaRPr lang="en-US">
              <a:solidFill>
                <a:srgbClr val="002060"/>
              </a:solidFill>
            </a:endParaRPr>
          </a:p>
          <a:p>
            <a:r>
              <a:rPr lang="en-US">
                <a:solidFill>
                  <a:srgbClr val="002060"/>
                </a:solidFill>
              </a:rPr>
              <a:t>There are lots of experiments that corroborate. For instance, when people are asked to remember an eight digit number they’re more likely to succumb to eating cheesecake than when they’re asked to remember a two digit number.  In Ariely’s take on this classic experiment, he did variations of the Matrix Task, and gave different groups cognitive tasks of varying difficulty. </a:t>
            </a:r>
            <a:endParaRPr lang="en-US"/>
          </a:p>
        </p:txBody>
      </p:sp>
      <p:sp>
        <p:nvSpPr>
          <p:cNvPr id="6" name="TextBox 5"/>
          <p:cNvSpPr txBox="1"/>
          <p:nvPr/>
        </p:nvSpPr>
        <p:spPr>
          <a:xfrm>
            <a:off x="1371600" y="4953000"/>
            <a:ext cx="3737177" cy="369332"/>
          </a:xfrm>
          <a:prstGeom prst="rect">
            <a:avLst/>
          </a:prstGeom>
          <a:noFill/>
        </p:spPr>
        <p:txBody>
          <a:bodyPr wrap="none" rtlCol="0">
            <a:spAutoFit/>
          </a:bodyPr>
          <a:lstStyle/>
          <a:p>
            <a:r>
              <a:rPr lang="en-US">
                <a:solidFill>
                  <a:srgbClr val="002060"/>
                </a:solidFill>
              </a:rPr>
              <a:t>You can guess what the outcome was.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372600" cy="1066800"/>
          </a:xfrm>
        </p:spPr>
        <p:txBody>
          <a:bodyPr>
            <a:normAutofit/>
          </a:bodyPr>
          <a:lstStyle/>
          <a:p>
            <a:r>
              <a:rPr lang="en-US" sz="2800">
                <a:solidFill>
                  <a:srgbClr val="002060"/>
                </a:solidFill>
              </a:rPr>
              <a:t>The Devil Wears Prada Knockoffs: A Lesson from Fashion</a:t>
            </a:r>
          </a:p>
        </p:txBody>
      </p:sp>
      <p:pic>
        <p:nvPicPr>
          <p:cNvPr id="1026" name="Picture 2" descr="http://www.dealies.com.au/wp-content/uploads/2012/09/Prada-SunglassesMen-Women-g30052609TT.jpeg"/>
          <p:cNvPicPr>
            <a:picLocks noChangeAspect="1" noChangeArrowheads="1"/>
          </p:cNvPicPr>
          <p:nvPr/>
        </p:nvPicPr>
        <p:blipFill>
          <a:blip r:embed="rId2" cstate="print"/>
          <a:srcRect t="18919" r="-1351" b="10811"/>
          <a:stretch>
            <a:fillRect/>
          </a:stretch>
        </p:blipFill>
        <p:spPr bwMode="auto">
          <a:xfrm>
            <a:off x="4724400" y="2133600"/>
            <a:ext cx="3810000" cy="1981200"/>
          </a:xfrm>
          <a:prstGeom prst="rect">
            <a:avLst/>
          </a:prstGeom>
          <a:noFill/>
        </p:spPr>
      </p:pic>
      <p:pic>
        <p:nvPicPr>
          <p:cNvPr id="1030" name="Picture 6" descr="http://www.sunglasses-salemarket.com/images/wholesale-prada-063.jpg"/>
          <p:cNvPicPr>
            <a:picLocks noChangeAspect="1" noChangeArrowheads="1"/>
          </p:cNvPicPr>
          <p:nvPr/>
        </p:nvPicPr>
        <p:blipFill>
          <a:blip r:embed="rId3" cstate="print"/>
          <a:srcRect t="19036" b="15700"/>
          <a:stretch>
            <a:fillRect/>
          </a:stretch>
        </p:blipFill>
        <p:spPr bwMode="auto">
          <a:xfrm>
            <a:off x="228600" y="2133600"/>
            <a:ext cx="4267200" cy="1828800"/>
          </a:xfrm>
          <a:prstGeom prst="rect">
            <a:avLst/>
          </a:prstGeom>
          <a:noFill/>
          <a:ln>
            <a:solidFill>
              <a:schemeClr val="accent1"/>
            </a:solid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4325112"/>
          </a:xfrm>
        </p:spPr>
        <p:txBody>
          <a:bodyPr/>
          <a:lstStyle/>
          <a:p>
            <a:pPr>
              <a:buNone/>
            </a:pPr>
            <a:r>
              <a:rPr lang="en-US"/>
              <a:t>	</a:t>
            </a:r>
            <a:r>
              <a:rPr lang="en-US">
                <a:solidFill>
                  <a:srgbClr val="002060"/>
                </a:solidFill>
              </a:rPr>
              <a:t>Fashion is usually referred to as external signaling. From Roman sumptuary laws that dictated who could wear what to the Bible to today's explicit and implicit dress codes the whole system is set up to send a specific social signal and breaking the rules of the signaling game can still get you thrown into jail (e.g. impersonating an officer). And people who buy fakes, mess with the signaling game. They're cheating. </a:t>
            </a:r>
          </a:p>
          <a:p>
            <a:pPr>
              <a:buNone/>
            </a:pP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066800"/>
          </a:xfrm>
        </p:spPr>
        <p:txBody>
          <a:bodyPr>
            <a:noAutofit/>
          </a:bodyPr>
          <a:lstStyle/>
          <a:p>
            <a:r>
              <a:rPr lang="en-US" sz="2400">
                <a:solidFill>
                  <a:srgbClr val="002060"/>
                </a:solidFill>
              </a:rPr>
              <a:t>Self-Signaling: </a:t>
            </a:r>
            <a:r>
              <a:rPr lang="en-US" sz="2400" i="1">
                <a:solidFill>
                  <a:srgbClr val="002060"/>
                </a:solidFill>
              </a:rPr>
              <a:t>If memory serves us, then who owns the master</a:t>
            </a:r>
            <a:br>
              <a:rPr lang="en-US" sz="2400" i="1">
                <a:solidFill>
                  <a:srgbClr val="002060"/>
                </a:solidFill>
              </a:rPr>
            </a:br>
            <a:r>
              <a:rPr lang="en-US" sz="2400" i="1">
                <a:solidFill>
                  <a:srgbClr val="002060"/>
                </a:solidFill>
              </a:rPr>
              <a:t>How do we know who's projecting this reel </a:t>
            </a:r>
          </a:p>
        </p:txBody>
      </p:sp>
      <p:sp>
        <p:nvSpPr>
          <p:cNvPr id="3" name="Content Placeholder 2"/>
          <p:cNvSpPr>
            <a:spLocks noGrp="1"/>
          </p:cNvSpPr>
          <p:nvPr>
            <p:ph idx="1"/>
          </p:nvPr>
        </p:nvSpPr>
        <p:spPr>
          <a:xfrm>
            <a:off x="457200" y="914400"/>
            <a:ext cx="8229600" cy="4325112"/>
          </a:xfrm>
        </p:spPr>
        <p:txBody>
          <a:bodyPr>
            <a:normAutofit fontScale="70000" lnSpcReduction="20000"/>
          </a:bodyPr>
          <a:lstStyle/>
          <a:p>
            <a:pPr>
              <a:buNone/>
            </a:pPr>
            <a:r>
              <a:rPr lang="en-US">
                <a:solidFill>
                  <a:srgbClr val="002060"/>
                </a:solidFill>
              </a:rPr>
              <a:t>	</a:t>
            </a:r>
          </a:p>
          <a:p>
            <a:pPr>
              <a:buNone/>
            </a:pPr>
            <a:r>
              <a:rPr lang="en-US">
                <a:solidFill>
                  <a:srgbClr val="002060"/>
                </a:solidFill>
              </a:rPr>
              <a:t>	How does signaling and the feedback loop of self-signaling work. What is the relationship between what we wear and how we behave and think of ourselves and others. Despite what we think, we don't have a very clear notion of who we are. We generally believe that we have a privileged view of our own preferences and character, but in reality we don't know ourselves that well (and definitely not as well as we think we do. Instead, we observe ourselves in the same way we observe and judge the actions of other people−inferring who we are and what we like from our actions. One typical example of self-signaling is charity. You give a beggar a dollar or even better take him to a decent restaurant, buy him a meal, and listen to his story. Walla, your practically a saint in your own eyes. The same applies to fashion. Wearing a real Prada bag does have an effect on your behavior−you are authentically privileged, and knowledgeable about design, etc. But does wearing a knockoff have the same effect? Could it even have a negative effect? </a:t>
            </a:r>
          </a:p>
          <a:p>
            <a:pPr>
              <a:buNone/>
            </a:pP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4325112"/>
          </a:xfrm>
        </p:spPr>
        <p:txBody>
          <a:bodyPr>
            <a:normAutofit fontScale="77500" lnSpcReduction="20000"/>
          </a:bodyPr>
          <a:lstStyle/>
          <a:p>
            <a:pPr>
              <a:buNone/>
            </a:pPr>
            <a:r>
              <a:rPr lang="en-US">
                <a:solidFill>
                  <a:srgbClr val="002060"/>
                </a:solidFill>
              </a:rPr>
              <a:t>	Ariely contacted his friend at Bazaar and in a few weeks he received a package with 20 Chloe bags and 20 pairs of sunglasses, estimated value $47,000. They enlisted a group of female MBA students for their study. Each woman was assigned to one of three conditions: authentic, fake, or no information. Each woman was given same authentic Chloe sunglasses. However, the first group was told they were real, the second that they were fake, and the third was given no information. Then they sent them out into the bright fresh world of the spring Harvard Campus. When the women came back Ariely subjected them to the matrix test. </a:t>
            </a:r>
          </a:p>
          <a:p>
            <a:pPr>
              <a:buNone/>
            </a:pPr>
            <a:endParaRPr lang="en-US">
              <a:solidFill>
                <a:srgbClr val="002060"/>
              </a:solidFill>
            </a:endParaRPr>
          </a:p>
          <a:p>
            <a:pPr>
              <a:buNone/>
            </a:pPr>
            <a:r>
              <a:rPr lang="en-US">
                <a:solidFill>
                  <a:srgbClr val="002060"/>
                </a:solidFill>
              </a:rPr>
              <a:t>	Result: Only 30% of the participants who thought they were wearing authentic glasses reported scores higher than they usually had while 74% of the ones who thought they were wearing fakes inflated their scores more than they usually had. </a:t>
            </a:r>
          </a:p>
          <a:p>
            <a:pPr>
              <a:buNone/>
            </a:pP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229600" cy="4325112"/>
          </a:xfrm>
        </p:spPr>
        <p:txBody>
          <a:bodyPr/>
          <a:lstStyle/>
          <a:p>
            <a:pPr>
              <a:buNone/>
            </a:pPr>
            <a:r>
              <a:rPr lang="en-US">
                <a:solidFill>
                  <a:srgbClr val="002060"/>
                </a:solidFill>
              </a:rPr>
              <a:t>	To answer the question Ariely turned to the non-information group in which 42% of the women cheated, and it was much closer to the positive self-signaling number. The conclusion then seems to be that negative self-signaling is actually more harmful, than the benefit of positive self-signaling. </a:t>
            </a:r>
          </a:p>
          <a:p>
            <a:pPr>
              <a:buNone/>
            </a:pPr>
            <a:endParaRPr lang="en-US">
              <a:solidFill>
                <a:srgbClr val="002060"/>
              </a:solidFill>
            </a:endParaRPr>
          </a:p>
          <a:p>
            <a:pPr>
              <a:buNone/>
            </a:pPr>
            <a:r>
              <a:rPr lang="en-US">
                <a:solidFill>
                  <a:srgbClr val="002060"/>
                </a:solidFill>
              </a:rPr>
              <a:t>	Prescriptive claim: Don’t trust people who wear knockoffs… </a:t>
            </a:r>
            <a:endParaRPr lang="en-US"/>
          </a:p>
          <a:p>
            <a:pPr>
              <a:buNone/>
            </a:pP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066800"/>
          </a:xfrm>
        </p:spPr>
        <p:txBody>
          <a:bodyPr>
            <a:noAutofit/>
          </a:bodyPr>
          <a:lstStyle/>
          <a:p>
            <a:r>
              <a:rPr lang="en-US" sz="2400">
                <a:solidFill>
                  <a:srgbClr val="002060"/>
                </a:solidFill>
              </a:rPr>
              <a:t>Cheating Contagion and Bias </a:t>
            </a:r>
            <a:endParaRPr lang="en-US" sz="2400" dirty="0">
              <a:solidFill>
                <a:srgbClr val="002060"/>
              </a:solidFill>
            </a:endParaRPr>
          </a:p>
        </p:txBody>
      </p:sp>
      <p:sp>
        <p:nvSpPr>
          <p:cNvPr id="3" name="TextBox 2"/>
          <p:cNvSpPr txBox="1"/>
          <p:nvPr/>
        </p:nvSpPr>
        <p:spPr>
          <a:xfrm>
            <a:off x="990600" y="1600200"/>
            <a:ext cx="7977377" cy="3416320"/>
          </a:xfrm>
          <a:prstGeom prst="rect">
            <a:avLst/>
          </a:prstGeom>
          <a:noFill/>
        </p:spPr>
        <p:txBody>
          <a:bodyPr wrap="none" rtlCol="0">
            <a:spAutoFit/>
          </a:bodyPr>
          <a:lstStyle/>
          <a:p>
            <a:r>
              <a:rPr lang="en-US" b="1">
                <a:solidFill>
                  <a:srgbClr val="002060"/>
                </a:solidFill>
              </a:rPr>
              <a:t>Another Matrix test: </a:t>
            </a:r>
            <a:r>
              <a:rPr lang="en-US">
                <a:solidFill>
                  <a:srgbClr val="002060"/>
                </a:solidFill>
              </a:rPr>
              <a:t>This time an actor got up just after one minute of testing, </a:t>
            </a:r>
          </a:p>
          <a:p>
            <a:r>
              <a:rPr lang="en-US">
                <a:solidFill>
                  <a:srgbClr val="002060"/>
                </a:solidFill>
              </a:rPr>
              <a:t>went to the front, announced he’d solved all 20 matrices, and collected his money </a:t>
            </a:r>
          </a:p>
          <a:p>
            <a:r>
              <a:rPr lang="en-US">
                <a:solidFill>
                  <a:srgbClr val="002060"/>
                </a:solidFill>
              </a:rPr>
              <a:t>in front of all the other subjects. </a:t>
            </a:r>
          </a:p>
          <a:p>
            <a:endParaRPr lang="en-US">
              <a:solidFill>
                <a:srgbClr val="002060"/>
              </a:solidFill>
            </a:endParaRPr>
          </a:p>
          <a:p>
            <a:r>
              <a:rPr lang="en-US">
                <a:solidFill>
                  <a:srgbClr val="002060"/>
                </a:solidFill>
              </a:rPr>
              <a:t>Of course, cheating increased. </a:t>
            </a:r>
          </a:p>
          <a:p>
            <a:endParaRPr lang="en-US">
              <a:solidFill>
                <a:srgbClr val="002060"/>
              </a:solidFill>
            </a:endParaRPr>
          </a:p>
          <a:p>
            <a:r>
              <a:rPr lang="en-US">
                <a:solidFill>
                  <a:srgbClr val="002060"/>
                </a:solidFill>
              </a:rPr>
              <a:t>An Interesting Variation: In Berkeley it would go something like this. The subjects </a:t>
            </a:r>
          </a:p>
          <a:p>
            <a:r>
              <a:rPr lang="en-US">
                <a:solidFill>
                  <a:srgbClr val="002060"/>
                </a:solidFill>
              </a:rPr>
              <a:t>(presumably all Berkeley students) are given the task, and the actor stands up </a:t>
            </a:r>
          </a:p>
          <a:p>
            <a:r>
              <a:rPr lang="en-US">
                <a:solidFill>
                  <a:srgbClr val="002060"/>
                </a:solidFill>
              </a:rPr>
              <a:t>and ostentatiously cheats. If the actor is wearing a Berkeley sweatshirt, people are </a:t>
            </a:r>
          </a:p>
          <a:p>
            <a:r>
              <a:rPr lang="en-US">
                <a:solidFill>
                  <a:srgbClr val="002060"/>
                </a:solidFill>
              </a:rPr>
              <a:t>more likely to cheat, as in the previous case. But if the actor is wearing a Stanford </a:t>
            </a:r>
          </a:p>
          <a:p>
            <a:r>
              <a:rPr lang="en-US">
                <a:solidFill>
                  <a:srgbClr val="002060"/>
                </a:solidFill>
              </a:rPr>
              <a:t>sweatshirt, the subjects still cheat, but about 40% less than in the Berkeley sweater</a:t>
            </a:r>
          </a:p>
          <a:p>
            <a:r>
              <a:rPr lang="en-US">
                <a:solidFill>
                  <a:srgbClr val="002060"/>
                </a:solidFill>
              </a:rPr>
              <a:t>case, even though the actor is exactly the same.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624078" indent="-514350">
              <a:buNone/>
            </a:pPr>
            <a:r>
              <a:rPr lang="en-US" dirty="0">
                <a:solidFill>
                  <a:srgbClr val="002060"/>
                </a:solidFill>
              </a:rPr>
              <a:t>  </a:t>
            </a:r>
          </a:p>
        </p:txBody>
      </p:sp>
      <p:sp>
        <p:nvSpPr>
          <p:cNvPr id="4" name="Content Placeholder 3"/>
          <p:cNvSpPr>
            <a:spLocks noGrp="1"/>
          </p:cNvSpPr>
          <p:nvPr>
            <p:ph idx="1"/>
          </p:nvPr>
        </p:nvSpPr>
        <p:spPr>
          <a:xfrm>
            <a:off x="304800" y="304800"/>
            <a:ext cx="8229600" cy="3200400"/>
          </a:xfrm>
        </p:spPr>
        <p:txBody>
          <a:bodyPr>
            <a:normAutofit/>
          </a:bodyPr>
          <a:lstStyle/>
          <a:p>
            <a:pPr fontAlgn="base">
              <a:buNone/>
            </a:pPr>
            <a:r>
              <a:rPr kumimoji="0" lang="en-US" sz="2800" b="1" kern="1200">
                <a:solidFill>
                  <a:srgbClr val="002060"/>
                </a:solidFill>
                <a:latin typeface="+mn-lt"/>
                <a:ea typeface="+mn-ea"/>
                <a:cs typeface="+mn-cs"/>
              </a:rPr>
              <a:t>   The Robin Hood Effect: Cheating for Someone Else’s Benefit </a:t>
            </a:r>
          </a:p>
          <a:p>
            <a:pPr fontAlgn="base">
              <a:buNone/>
            </a:pPr>
            <a:endParaRPr kumimoji="0" lang="en-US" sz="2800" kern="1200" dirty="0">
              <a:solidFill>
                <a:srgbClr val="002060"/>
              </a:solidFill>
              <a:latin typeface="+mn-lt"/>
              <a:ea typeface="+mn-ea"/>
              <a:cs typeface="+mn-cs"/>
            </a:endParaRPr>
          </a:p>
          <a:p>
            <a:pPr fontAlgn="base">
              <a:buNone/>
            </a:pPr>
            <a:r>
              <a:rPr kumimoji="0" lang="en-US" sz="2800" kern="1200">
                <a:solidFill>
                  <a:srgbClr val="002060"/>
                </a:solidFill>
                <a:latin typeface="+mn-lt"/>
                <a:ea typeface="+mn-ea"/>
                <a:cs typeface="+mn-cs"/>
              </a:rPr>
              <a:t>    </a:t>
            </a:r>
            <a:endParaRPr kumimoji="0" lang="en-US" sz="2800" kern="1200" dirty="0">
              <a:solidFill>
                <a:srgbClr val="002060"/>
              </a:solidFill>
              <a:latin typeface="+mn-lt"/>
              <a:ea typeface="+mn-ea"/>
              <a:cs typeface="+mn-cs"/>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p:txBody>
      </p:sp>
      <p:sp>
        <p:nvSpPr>
          <p:cNvPr id="5" name="Rectangle 4"/>
          <p:cNvSpPr/>
          <p:nvPr/>
        </p:nvSpPr>
        <p:spPr>
          <a:xfrm>
            <a:off x="381000" y="1219200"/>
            <a:ext cx="8153400" cy="2308324"/>
          </a:xfrm>
          <a:prstGeom prst="rect">
            <a:avLst/>
          </a:prstGeom>
        </p:spPr>
        <p:txBody>
          <a:bodyPr wrap="square">
            <a:spAutoFit/>
          </a:bodyPr>
          <a:lstStyle/>
          <a:p>
            <a:r>
              <a:rPr lang="en-US" b="1">
                <a:solidFill>
                  <a:srgbClr val="002060"/>
                </a:solidFill>
              </a:rPr>
              <a:t>Matrix task with partner I</a:t>
            </a:r>
            <a:r>
              <a:rPr lang="en-US">
                <a:solidFill>
                  <a:srgbClr val="002060"/>
                </a:solidFill>
              </a:rPr>
              <a:t>: Subjects perform the task with a partner and split the total of the winnings. In this scenario they get to shred in private. If one participant claimed to have earned $4, and the other claimed to have earned $2, they would have earned $6 altogether, and each get $3. </a:t>
            </a:r>
          </a:p>
          <a:p>
            <a:r>
              <a:rPr lang="en-US" b="1">
                <a:solidFill>
                  <a:srgbClr val="002060"/>
                </a:solidFill>
              </a:rPr>
              <a:t>Result</a:t>
            </a:r>
            <a:r>
              <a:rPr lang="en-US">
                <a:solidFill>
                  <a:srgbClr val="002060"/>
                </a:solidFill>
              </a:rPr>
              <a:t>: When participants learned that both they and someone else would benefit from their dishonesty if they exaggerated their scores, they ended up engaging in even higher levels of cheating, claiming to have solved 3 more matrices than when they were cheating just for themselves.</a:t>
            </a:r>
          </a:p>
        </p:txBody>
      </p:sp>
      <p:sp>
        <p:nvSpPr>
          <p:cNvPr id="6" name="Rectangle 5"/>
          <p:cNvSpPr/>
          <p:nvPr/>
        </p:nvSpPr>
        <p:spPr>
          <a:xfrm>
            <a:off x="304800" y="3657600"/>
            <a:ext cx="8077200" cy="923330"/>
          </a:xfrm>
          <a:prstGeom prst="rect">
            <a:avLst/>
          </a:prstGeom>
        </p:spPr>
        <p:txBody>
          <a:bodyPr wrap="square">
            <a:spAutoFit/>
          </a:bodyPr>
          <a:lstStyle/>
          <a:p>
            <a:r>
              <a:rPr lang="en-US" b="1">
                <a:solidFill>
                  <a:srgbClr val="002060"/>
                </a:solidFill>
              </a:rPr>
              <a:t>Matrix task with partner I</a:t>
            </a:r>
            <a:r>
              <a:rPr lang="en-US">
                <a:solidFill>
                  <a:srgbClr val="002060"/>
                </a:solidFill>
              </a:rPr>
              <a:t>I: Same task but the money goes to a third party (e.g. cancer research). </a:t>
            </a:r>
          </a:p>
          <a:p>
            <a:r>
              <a:rPr lang="en-US" b="1">
                <a:solidFill>
                  <a:srgbClr val="002060"/>
                </a:solidFill>
              </a:rPr>
              <a:t>Result</a:t>
            </a:r>
            <a:r>
              <a:rPr lang="en-US">
                <a:solidFill>
                  <a:srgbClr val="002060"/>
                </a:solidFill>
              </a:rPr>
              <a:t>: Cheating went up even more. </a:t>
            </a:r>
          </a:p>
        </p:txBody>
      </p:sp>
      <p:sp>
        <p:nvSpPr>
          <p:cNvPr id="7" name="TextBox 6"/>
          <p:cNvSpPr txBox="1"/>
          <p:nvPr/>
        </p:nvSpPr>
        <p:spPr>
          <a:xfrm>
            <a:off x="-609600" y="0"/>
            <a:ext cx="184731" cy="369332"/>
          </a:xfrm>
          <a:prstGeom prst="rect">
            <a:avLst/>
          </a:prstGeom>
          <a:noFill/>
        </p:spPr>
        <p:txBody>
          <a:bodyPr wrap="none" rtlCol="0">
            <a:spAutoFit/>
          </a:bodyPr>
          <a:lstStyle/>
          <a:p>
            <a:endParaRPr lang="en-US"/>
          </a:p>
        </p:txBody>
      </p:sp>
      <p:sp>
        <p:nvSpPr>
          <p:cNvPr id="8" name="Rectangle 7"/>
          <p:cNvSpPr/>
          <p:nvPr/>
        </p:nvSpPr>
        <p:spPr>
          <a:xfrm>
            <a:off x="381000" y="4724400"/>
            <a:ext cx="7543800" cy="923330"/>
          </a:xfrm>
          <a:prstGeom prst="rect">
            <a:avLst/>
          </a:prstGeom>
        </p:spPr>
        <p:txBody>
          <a:bodyPr wrap="square">
            <a:spAutoFit/>
          </a:bodyPr>
          <a:lstStyle/>
          <a:p>
            <a:r>
              <a:rPr lang="en-US" b="1">
                <a:solidFill>
                  <a:srgbClr val="002060"/>
                </a:solidFill>
              </a:rPr>
              <a:t>Matrix task with partner I</a:t>
            </a:r>
            <a:r>
              <a:rPr lang="en-US">
                <a:solidFill>
                  <a:srgbClr val="002060"/>
                </a:solidFill>
              </a:rPr>
              <a:t>II: This time subjects perform the matrix task together but they cannot shred in private. </a:t>
            </a:r>
          </a:p>
          <a:p>
            <a:r>
              <a:rPr lang="en-US" b="1">
                <a:solidFill>
                  <a:srgbClr val="002060"/>
                </a:solidFill>
              </a:rPr>
              <a:t>Result</a:t>
            </a:r>
            <a:r>
              <a:rPr lang="en-US">
                <a:solidFill>
                  <a:srgbClr val="002060"/>
                </a:solidFill>
              </a:rPr>
              <a:t>: Cheating was nearly eliminated.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 </a:t>
            </a:r>
          </a:p>
        </p:txBody>
      </p:sp>
      <p:sp>
        <p:nvSpPr>
          <p:cNvPr id="4" name="Content Placeholder 3"/>
          <p:cNvSpPr>
            <a:spLocks noGrp="1"/>
          </p:cNvSpPr>
          <p:nvPr>
            <p:ph idx="1"/>
          </p:nvPr>
        </p:nvSpPr>
        <p:spPr>
          <a:xfrm>
            <a:off x="457200" y="1066800"/>
            <a:ext cx="8229600" cy="5507736"/>
          </a:xfrm>
        </p:spPr>
        <p:txBody>
          <a:bodyPr>
            <a:normAutofit/>
          </a:bodyPr>
          <a:lstStyle/>
          <a:p>
            <a:pPr fontAlgn="base">
              <a:buNone/>
            </a:pPr>
            <a:r>
              <a:rPr kumimoji="0" lang="en-US" sz="2800" kern="1200">
                <a:solidFill>
                  <a:srgbClr val="002060"/>
                </a:solidFill>
                <a:latin typeface="+mn-lt"/>
                <a:ea typeface="+mn-ea"/>
                <a:cs typeface="+mn-cs"/>
              </a:rPr>
              <a:t>   </a:t>
            </a:r>
            <a:r>
              <a:rPr lang="en-US" sz="2400" b="1">
                <a:solidFill>
                  <a:srgbClr val="002060"/>
                </a:solidFill>
              </a:rPr>
              <a:t>Descriptive Claim: </a:t>
            </a:r>
            <a:r>
              <a:rPr lang="en-US" sz="2400">
                <a:solidFill>
                  <a:srgbClr val="002060"/>
                </a:solidFill>
              </a:rPr>
              <a:t>It is easier to rationalize cheating when it is altruistic, and altruism is the oil the keeps the gears of any organization working smoothly.</a:t>
            </a:r>
            <a:endParaRPr lang="en-US">
              <a:solidFill>
                <a:srgbClr val="002060"/>
              </a:solidFill>
            </a:endParaRPr>
          </a:p>
          <a:p>
            <a:pPr fontAlgn="base">
              <a:buNone/>
            </a:pPr>
            <a:endParaRPr lang="en-US">
              <a:solidFill>
                <a:srgbClr val="002060"/>
              </a:solidFill>
            </a:endParaRPr>
          </a:p>
          <a:p>
            <a:pPr fontAlgn="base">
              <a:buNone/>
            </a:pPr>
            <a:r>
              <a:rPr kumimoji="0" lang="en-US" sz="2800" kern="1200">
                <a:solidFill>
                  <a:srgbClr val="002060"/>
                </a:solidFill>
                <a:latin typeface="+mn-lt"/>
                <a:ea typeface="+mn-ea"/>
                <a:cs typeface="+mn-cs"/>
              </a:rPr>
              <a:t>	</a:t>
            </a:r>
            <a:r>
              <a:rPr kumimoji="0" lang="en-US" sz="2400" b="1" kern="1200">
                <a:solidFill>
                  <a:srgbClr val="002060"/>
                </a:solidFill>
                <a:latin typeface="+mn-lt"/>
                <a:ea typeface="+mn-ea"/>
                <a:cs typeface="+mn-cs"/>
              </a:rPr>
              <a:t>Prescriptive Claim: </a:t>
            </a:r>
            <a:r>
              <a:rPr kumimoji="0" lang="en-US" sz="2400" kern="1200">
                <a:solidFill>
                  <a:srgbClr val="002060"/>
                </a:solidFill>
                <a:latin typeface="+mn-lt"/>
                <a:ea typeface="+mn-ea"/>
                <a:cs typeface="+mn-cs"/>
              </a:rPr>
              <a:t>There should monitoring where between departments </a:t>
            </a:r>
            <a:r>
              <a:rPr kumimoji="0" lang="en-US" sz="2400" kern="1200" dirty="0">
                <a:solidFill>
                  <a:srgbClr val="002060"/>
                </a:solidFill>
                <a:latin typeface="+mn-lt"/>
                <a:ea typeface="+mn-ea"/>
                <a:cs typeface="+mn-cs"/>
              </a:rPr>
              <a:t>where greater affinity threatens </a:t>
            </a:r>
            <a:r>
              <a:rPr kumimoji="0" lang="en-US" sz="2400" kern="1200">
                <a:solidFill>
                  <a:srgbClr val="002060"/>
                </a:solidFill>
                <a:latin typeface="+mn-lt"/>
                <a:ea typeface="+mn-ea"/>
                <a:cs typeface="+mn-cs"/>
              </a:rPr>
              <a:t>increased cheating. </a:t>
            </a:r>
          </a:p>
          <a:p>
            <a:pPr fontAlgn="base">
              <a:buNone/>
            </a:pPr>
            <a:endParaRPr lang="en-US" sz="2400">
              <a:solidFill>
                <a:srgbClr val="002060"/>
              </a:solidFill>
            </a:endParaRPr>
          </a:p>
          <a:p>
            <a:pPr fontAlgn="base">
              <a:buNone/>
            </a:pPr>
            <a:r>
              <a:rPr lang="en-US" sz="2400">
                <a:solidFill>
                  <a:srgbClr val="002060"/>
                </a:solidFill>
              </a:rPr>
              <a:t>	</a:t>
            </a:r>
            <a:endParaRPr lang="en-US" dirty="0">
              <a:solidFill>
                <a:srgbClr val="002060"/>
              </a:solidFill>
            </a:endParaRPr>
          </a:p>
          <a:p>
            <a:pPr marL="624078" indent="-514350">
              <a:buNone/>
            </a:pPr>
            <a:endParaRPr lang="en-US">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 </a:t>
            </a:r>
          </a:p>
        </p:txBody>
      </p:sp>
      <p:sp>
        <p:nvSpPr>
          <p:cNvPr id="4" name="Content Placeholder 3"/>
          <p:cNvSpPr>
            <a:spLocks noGrp="1"/>
          </p:cNvSpPr>
          <p:nvPr>
            <p:ph idx="1"/>
          </p:nvPr>
        </p:nvSpPr>
        <p:spPr>
          <a:xfrm>
            <a:off x="457200" y="1066800"/>
            <a:ext cx="8229600" cy="5507736"/>
          </a:xfrm>
        </p:spPr>
        <p:txBody>
          <a:bodyPr>
            <a:normAutofit fontScale="85000" lnSpcReduction="20000"/>
          </a:bodyPr>
          <a:lstStyle/>
          <a:p>
            <a:pPr fontAlgn="base">
              <a:buNone/>
            </a:pPr>
            <a:r>
              <a:rPr lang="en-US" b="1">
                <a:solidFill>
                  <a:srgbClr val="002060"/>
                </a:solidFill>
              </a:rPr>
              <a:t>Final Conclusion: </a:t>
            </a:r>
          </a:p>
          <a:p>
            <a:pPr fontAlgn="base">
              <a:buNone/>
            </a:pPr>
            <a:endParaRPr kumimoji="0" lang="en-US" sz="2800" kern="1200" dirty="0">
              <a:solidFill>
                <a:srgbClr val="002060"/>
              </a:solidFill>
              <a:latin typeface="+mn-lt"/>
              <a:ea typeface="+mn-ea"/>
              <a:cs typeface="+mn-cs"/>
            </a:endParaRPr>
          </a:p>
          <a:p>
            <a:pPr fontAlgn="base">
              <a:buNone/>
            </a:pPr>
            <a:r>
              <a:rPr kumimoji="0" lang="en-US" sz="2800" kern="1200">
                <a:solidFill>
                  <a:srgbClr val="002060"/>
                </a:solidFill>
                <a:latin typeface="+mn-lt"/>
                <a:ea typeface="+mn-ea"/>
                <a:cs typeface="+mn-cs"/>
              </a:rPr>
              <a:t>    When </a:t>
            </a:r>
            <a:r>
              <a:rPr kumimoji="0" lang="en-US" sz="2800" kern="1200" dirty="0">
                <a:solidFill>
                  <a:srgbClr val="002060"/>
                </a:solidFill>
                <a:latin typeface="+mn-lt"/>
                <a:ea typeface="+mn-ea"/>
                <a:cs typeface="+mn-cs"/>
              </a:rPr>
              <a:t>thinking about dishonesty and cheating it is important to recognize that we human beings aren’t driven by SMORC. Rather, it would appear that we are driven by the desire to benefit from cheating on the hand, and the desire to think of ourselves as good and honest people on the other. The latter counteracts the former. However, our sophisticated mental machinery allows us to get the best of both worlds (to a degree). Specifically, our capacity for rationalization and self-deception allows us to cheat a little while nonetheless hanging on to the view that we are good people. The more creative we are, the easier it is for us to execute these reality-bending capacities. What’s more, numerous external factors can influence just how easy or hard it is for us to ‘fudge’ things. By identifying these factors, we can limit how much cheating and corruption we see in our own lives, and in society at </a:t>
            </a:r>
            <a:r>
              <a:rPr kumimoji="0" lang="en-US" sz="2800" kern="1200">
                <a:solidFill>
                  <a:srgbClr val="002060"/>
                </a:solidFill>
                <a:latin typeface="+mn-lt"/>
                <a:ea typeface="+mn-ea"/>
                <a:cs typeface="+mn-cs"/>
              </a:rPr>
              <a:t>large. </a:t>
            </a:r>
            <a:endParaRPr kumimoji="0" lang="en-US" sz="2800" kern="1200" dirty="0">
              <a:solidFill>
                <a:srgbClr val="002060"/>
              </a:solidFill>
              <a:latin typeface="+mn-lt"/>
              <a:ea typeface="+mn-ea"/>
              <a:cs typeface="+mn-cs"/>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a:p>
            <a:pPr marL="624078" indent="-514350">
              <a:buNone/>
            </a:pPr>
            <a:endParaRPr lang="en-US" dirty="0">
              <a:solidFill>
                <a:srgbClr val="00206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066800"/>
          </a:xfrm>
        </p:spPr>
        <p:txBody>
          <a:bodyPr/>
          <a:lstStyle/>
          <a:p>
            <a:r>
              <a:rPr lang="en-US">
                <a:solidFill>
                  <a:srgbClr val="002060"/>
                </a:solidFill>
              </a:rPr>
              <a:t>Questions: </a:t>
            </a:r>
          </a:p>
        </p:txBody>
      </p:sp>
      <p:sp>
        <p:nvSpPr>
          <p:cNvPr id="3" name="Content Placeholder 2"/>
          <p:cNvSpPr>
            <a:spLocks noGrp="1"/>
          </p:cNvSpPr>
          <p:nvPr>
            <p:ph idx="1"/>
          </p:nvPr>
        </p:nvSpPr>
        <p:spPr>
          <a:xfrm>
            <a:off x="457200" y="1371600"/>
            <a:ext cx="8229600" cy="4724400"/>
          </a:xfrm>
        </p:spPr>
        <p:txBody>
          <a:bodyPr>
            <a:normAutofit fontScale="62500" lnSpcReduction="20000"/>
          </a:bodyPr>
          <a:lstStyle/>
          <a:p>
            <a:pPr marL="624078" indent="-514350">
              <a:buNone/>
            </a:pPr>
            <a:r>
              <a:rPr lang="en-US">
                <a:solidFill>
                  <a:srgbClr val="002060"/>
                </a:solidFill>
              </a:rPr>
              <a:t>1.      Isn’t this just another binary model that essential functions like the utilitarian model? Instead of weighing benefit and punishment, Ariely is balancing benefit and self-image (which is essentially just an internalized “punishment” mechanism). </a:t>
            </a:r>
          </a:p>
          <a:p>
            <a:pPr marL="624078" indent="-514350">
              <a:buNone/>
            </a:pPr>
            <a:endParaRPr lang="en-US">
              <a:solidFill>
                <a:srgbClr val="002060"/>
              </a:solidFill>
            </a:endParaRPr>
          </a:p>
          <a:p>
            <a:pPr marL="624078" indent="-514350">
              <a:buNone/>
            </a:pPr>
            <a:r>
              <a:rPr lang="en-US">
                <a:solidFill>
                  <a:srgbClr val="002060"/>
                </a:solidFill>
              </a:rPr>
              <a:t>2.     Also, he says very little about what people are thinking i.e. how this “ego motivation” is constructed. </a:t>
            </a:r>
          </a:p>
          <a:p>
            <a:pPr marL="624078" indent="-514350">
              <a:buNone/>
            </a:pPr>
            <a:endParaRPr lang="en-US">
              <a:solidFill>
                <a:srgbClr val="002060"/>
              </a:solidFill>
            </a:endParaRPr>
          </a:p>
          <a:p>
            <a:pPr marL="624078" indent="-514350">
              <a:buNone/>
            </a:pPr>
            <a:r>
              <a:rPr lang="en-US">
                <a:solidFill>
                  <a:srgbClr val="002060"/>
                </a:solidFill>
              </a:rPr>
              <a:t>3.     What does it even mean to argue with yourself in this way? In the SMORC model we the punishment is externalized. We can literally see it in the legal code, but what is going on under the hood of our skulls, and if this answer isn’t readily available does this undermine his descriptive program, let alone his prescriptive claims? </a:t>
            </a:r>
          </a:p>
          <a:p>
            <a:pPr marL="624078" indent="-514350">
              <a:buNone/>
            </a:pPr>
            <a:endParaRPr lang="en-US">
              <a:solidFill>
                <a:srgbClr val="002060"/>
              </a:solidFill>
            </a:endParaRPr>
          </a:p>
          <a:p>
            <a:pPr marL="624078" indent="-514350">
              <a:buNone/>
            </a:pPr>
            <a:r>
              <a:rPr lang="en-US">
                <a:solidFill>
                  <a:srgbClr val="002060"/>
                </a:solidFill>
              </a:rPr>
              <a:t>4.      As evidenced by Ariely’s own methodology it seems that it is ok, even good to mislead people at times (e.g. when conducting research on deception). When then is it good and when is it bad to lie? What kind of measuring stick do we use? How much of our conscious and unconscious deception falls into a gray area of neither obviously bad or obsviously good? </a:t>
            </a:r>
          </a:p>
          <a:p>
            <a:pPr marL="624078" indent="-514350">
              <a:buNone/>
            </a:pPr>
            <a:endParaRPr lang="en-US">
              <a:solidFill>
                <a:srgbClr val="002060"/>
              </a:solidFill>
            </a:endParaRPr>
          </a:p>
          <a:p>
            <a:pPr marL="624078" indent="-514350">
              <a:buNone/>
            </a:pPr>
            <a:endParaRPr lang="en-US">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Custom 7">
      <a:dk1>
        <a:srgbClr val="FFFF00"/>
      </a:dk1>
      <a:lt1>
        <a:srgbClr val="FF0000"/>
      </a:lt1>
      <a:dk2>
        <a:srgbClr val="FFFF00"/>
      </a:dk2>
      <a:lt2>
        <a:srgbClr val="FFFF00"/>
      </a:lt2>
      <a:accent1>
        <a:srgbClr val="00B0F0"/>
      </a:accent1>
      <a:accent2>
        <a:srgbClr val="00B0F0"/>
      </a:accent2>
      <a:accent3>
        <a:srgbClr val="00B0F0"/>
      </a:accent3>
      <a:accent4>
        <a:srgbClr val="00B0F0"/>
      </a:accent4>
      <a:accent5>
        <a:srgbClr val="00B0F0"/>
      </a:accent5>
      <a:accent6>
        <a:srgbClr val="00B0F0"/>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4373</TotalTime>
  <Words>4477</Words>
  <Application>Microsoft Office PowerPoint</Application>
  <PresentationFormat>On-screen Show (4:3)</PresentationFormat>
  <Paragraphs>207</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Calibri</vt:lpstr>
      <vt:lpstr>Georgia</vt:lpstr>
      <vt:lpstr>Wingdings 2</vt:lpstr>
      <vt:lpstr>Urban</vt:lpstr>
      <vt:lpstr>The Honest Truth About Dishonesty </vt:lpstr>
      <vt:lpstr>Plato’s “The Ring of Gyges”</vt:lpstr>
      <vt:lpstr>Plato’s “The Ring of Gyges” </vt:lpstr>
      <vt:lpstr>PowerPoint Presentation</vt:lpstr>
      <vt:lpstr>Descriptive and Prescrptive Program</vt:lpstr>
      <vt:lpstr>SMORC: Simple Model of Rational Crime</vt:lpstr>
      <vt:lpstr>  Two Testable Implications of SMORC:   1. The higher the benefit, the more  likely somone is to cheat (e.g. more  money means more cheating.)   2. The higher the cost, the less likely  someone is to cheat (e.g. higher chance of getting caught means less cheating.)  </vt:lpstr>
      <vt:lpstr>Testing SMORC: The Matrix Task </vt:lpstr>
      <vt:lpstr>Does making it easier to cheat mean more cheating?  </vt:lpstr>
      <vt:lpstr>Does increasing the reward mean more cheating?  </vt:lpstr>
      <vt:lpstr> Fudge Factor Theory: Two Opposing Factors </vt:lpstr>
      <vt:lpstr>PowerPoint Presentation</vt:lpstr>
      <vt:lpstr>PowerPoint Presentation</vt:lpstr>
      <vt:lpstr>     Imagination and the Dot Task </vt:lpstr>
      <vt:lpstr>PowerPoint Presentation</vt:lpstr>
      <vt:lpstr> </vt:lpstr>
      <vt:lpstr>In the Real World</vt:lpstr>
      <vt:lpstr>PowerPoint Presentation</vt:lpstr>
      <vt:lpstr>EXTERNAL FACTORS THAT INFLUENCE DISHONEST BEHAVIOR </vt:lpstr>
      <vt:lpstr> </vt:lpstr>
      <vt:lpstr> </vt:lpstr>
      <vt:lpstr>PowerPoint Presentation</vt:lpstr>
      <vt:lpstr>What effect do conflicts of interest have on our honesty? We get a cameo by one of our own   “Keeping the illusion of control under control: Ceilings, floors, and imperfect calibration,” with F. Gino and Z. Sharek.  Organizational Behavior and Human Decision Processes 114 (2011): 104-114. “Competing to be certain (but wrong): Market dynamics and excessive confidence in judgment” with J. R. Radzevick.  Management Science 57 (2011): 93-106. "When Sunlight Fails to Disinfect: Understanding the Perverse Effects of Disclosing Conflicts of Interest," with D. M. Cain and G. Loewenstein. Journal of Consumer Research 37, no. 5 (2010): 836-857.  "The Trouble with Overconfidence," with P. J. Healy. Psychological Review 115, no. 2 (2008): 502-517. "Correspondence Bias in Performance Evaluation: Why Grade Inflation Works," with S. A. Swift, Z. S. Sharek, and F. Gino. Personality and Social Psychology Bulletin 36, no. 6 (2010), 843-852.    </vt:lpstr>
      <vt:lpstr>              The Jar of MoneyTest   The experimenters paired their subjects into teams of two and asked one of the subjects to estimate the amount of money contained in a large jar (the estimator) and the other subject to advise their partner (the advisor). Sort of like you know, a hedgefund maybe…  The estimator was given little information about how much money might be in the jar, while the adviser was given a general range (e.g. $15-$30) and was given time to inspect the jar.   In the control condition, both the estimator and the adviser were rewarded according to how accurately the estimator guessed the amount of money in the jar. In the experimental condition, the more the estimator over guessed the correct amount, the more the advisor made.  In the control condition, the advisers suggested an average of $16.50, while in the conflict-of-interest condition, the advisers suggested an estimate that was over $20.   </vt:lpstr>
      <vt:lpstr>Contemporary Art and the Cheating Brain</vt:lpstr>
      <vt:lpstr>PowerPoint Presentation</vt:lpstr>
      <vt:lpstr>Cheater’s Revenge: People Cheat More When They Think They’ve Been Wronged   Control Group: An actor approaches patrons in a coffee shop and asks them to perform a quick 5 minute test in return for $5 (the test involved picking out identical, adjacent letters from a package of 10 pages full of random letters). At the end of the test, the actor handed the subject a stack of bills and a receipt and asked them to count the money, sign the receipt,  and leave it on the table. Meanwhile, Daniel went off to find another subject. Here’s the thing, though: the stack of bills contained $9, as opposed to the $5 originally promised.  Experimental group: In this case, when the actor was explaining the procedure to the subject, he was interrupted by his cell phone, took the call, and had a conversation about a date in the evening. The whole fake conversation took about twelve seconds. After the actor slipped the phone back into his pocket, he made no reference to the disruption and simply continued describing the task.  Result: 45 % of the controls returned the extra money, while only 14 % of the exerimentals did so.</vt:lpstr>
      <vt:lpstr>Conclusion: It is easier to make a story rationalizing cheating if we tell ourselves that we’re not doing anything wrong, we are only getting even. We might even take this rationalization a step further and tell ourselves that we are simply restoring karma and balance to the world. Good for us, we’re crusading for justice!</vt:lpstr>
      <vt:lpstr>The Unfortunate Affair  of Dying Grandmothers: Cheating ,Will Power Depletion, and Spending Emotional Capital  </vt:lpstr>
      <vt:lpstr>Cheating and Will Power Depletion, Spending Emotional Capital   Each of the decisions we make to avoid temptation takes some degree of effort (like lifting a weight once), and we exhaust our willpower by using it over and over (like lifting a weight over and over).   </vt:lpstr>
      <vt:lpstr>The Devil Wears Prada Knockoffs: A Lesson from Fashion</vt:lpstr>
      <vt:lpstr>PowerPoint Presentation</vt:lpstr>
      <vt:lpstr>Self-Signaling: If memory serves us, then who owns the master How do we know who's projecting this reel </vt:lpstr>
      <vt:lpstr>PowerPoint Presentation</vt:lpstr>
      <vt:lpstr>PowerPoint Presentation</vt:lpstr>
      <vt:lpstr>Cheating Contagion and Bias </vt:lpstr>
      <vt:lpstr>  </vt:lpstr>
      <vt:lpstr> </vt:lpstr>
      <vt:lpstr> </vt:lpstr>
      <vt:lpstr>Questions: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Honest Truth About Dishonesty</dc:title>
  <dc:creator>Peter Golub</dc:creator>
  <cp:lastModifiedBy>Peter Golub</cp:lastModifiedBy>
  <cp:revision>14</cp:revision>
  <dcterms:created xsi:type="dcterms:W3CDTF">2012-11-29T02:07:57Z</dcterms:created>
  <dcterms:modified xsi:type="dcterms:W3CDTF">2026-03-09T08:29:34Z</dcterms:modified>
</cp:coreProperties>
</file>